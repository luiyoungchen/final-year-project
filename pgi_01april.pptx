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72" r:id="rId4"/>
    <p:sldId id="258" r:id="rId5"/>
    <p:sldId id="268" r:id="rId6"/>
    <p:sldId id="265" r:id="rId7"/>
    <p:sldId id="259" r:id="rId8"/>
    <p:sldId id="267" r:id="rId9"/>
    <p:sldId id="260" r:id="rId10"/>
    <p:sldId id="262" r:id="rId11"/>
    <p:sldId id="263" r:id="rId12"/>
    <p:sldId id="264" r:id="rId13"/>
  </p:sldIdLst>
  <p:sldSz cx="14630400" cy="8229600"/>
  <p:notesSz cx="8229600" cy="14630400"/>
  <p:embeddedFontLst>
    <p:embeddedFont>
      <p:font typeface="Aptos Narrow" panose="020B0004020202020204" pitchFamily="34" charset="0"/>
      <p:regular r:id="rId15"/>
      <p:bold r:id="rId16"/>
      <p:italic r:id="rId17"/>
      <p:boldItalic r:id="rId18"/>
    </p:embeddedFont>
    <p:embeddedFont>
      <p:font typeface="Bodoni MT" panose="02070603080606020203" pitchFamily="18" charset="0"/>
      <p:regular r:id="rId19"/>
      <p:bold r:id="rId20"/>
      <p:italic r:id="rId21"/>
      <p:boldItalic r:id="rId22"/>
    </p:embeddedFont>
    <p:embeddedFont>
      <p:font typeface="Inter" panose="020B0604020202020204" charset="0"/>
      <p:regular r:id="rId23"/>
      <p:bold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243555-C758-42CA-A422-090E8D3F3FCC}" type="doc">
      <dgm:prSet loTypeId="urn:microsoft.com/office/officeart/2005/8/layout/hList9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DA54E97-9103-4927-9130-BCCF04A21786}">
      <dgm:prSet phldrT="[Text]" phldr="0"/>
      <dgm:spPr/>
      <dgm:t>
        <a:bodyPr/>
        <a:lstStyle/>
        <a:p>
          <a:r>
            <a:rPr lang="en-US" dirty="0"/>
            <a:t>1</a:t>
          </a:r>
          <a:r>
            <a:rPr lang="en-US" baseline="30000" dirty="0"/>
            <a:t>st</a:t>
          </a:r>
          <a:r>
            <a:rPr lang="en-US" dirty="0"/>
            <a:t> </a:t>
          </a:r>
          <a:endParaRPr lang="en-IN" dirty="0"/>
        </a:p>
      </dgm:t>
    </dgm:pt>
    <dgm:pt modelId="{58998B40-95F0-4C8B-9F0D-E0AA3ED2C044}" type="parTrans" cxnId="{048FA386-8AB7-46E5-89FC-170E661FA5A9}">
      <dgm:prSet/>
      <dgm:spPr/>
      <dgm:t>
        <a:bodyPr/>
        <a:lstStyle/>
        <a:p>
          <a:endParaRPr lang="en-IN"/>
        </a:p>
      </dgm:t>
    </dgm:pt>
    <dgm:pt modelId="{1A02BD7E-2349-4728-88D9-A1B9EB52B524}" type="sibTrans" cxnId="{048FA386-8AB7-46E5-89FC-170E661FA5A9}">
      <dgm:prSet/>
      <dgm:spPr/>
      <dgm:t>
        <a:bodyPr/>
        <a:lstStyle/>
        <a:p>
          <a:endParaRPr lang="en-IN"/>
        </a:p>
      </dgm:t>
    </dgm:pt>
    <dgm:pt modelId="{9778BECD-B430-41E4-9895-93E5B1DC1507}">
      <dgm:prSet phldrT="[Text]" phldr="0" custT="1"/>
      <dgm:spPr/>
      <dgm:t>
        <a:bodyPr/>
        <a:lstStyle/>
        <a:p>
          <a:r>
            <a:rPr lang="en-US" sz="3200" dirty="0"/>
            <a:t>Overview</a:t>
          </a:r>
          <a:endParaRPr lang="en-IN" sz="3200" dirty="0"/>
        </a:p>
      </dgm:t>
    </dgm:pt>
    <dgm:pt modelId="{E0312018-DF9D-401C-80DE-7B15EF4B2C56}" type="parTrans" cxnId="{2C5F75CA-52EA-4060-95EE-5D6BA09A2BCE}">
      <dgm:prSet/>
      <dgm:spPr/>
      <dgm:t>
        <a:bodyPr/>
        <a:lstStyle/>
        <a:p>
          <a:endParaRPr lang="en-IN"/>
        </a:p>
      </dgm:t>
    </dgm:pt>
    <dgm:pt modelId="{2481B23B-38D9-4230-9D57-A77CA76E1D00}" type="sibTrans" cxnId="{2C5F75CA-52EA-4060-95EE-5D6BA09A2BCE}">
      <dgm:prSet/>
      <dgm:spPr/>
      <dgm:t>
        <a:bodyPr/>
        <a:lstStyle/>
        <a:p>
          <a:endParaRPr lang="en-IN"/>
        </a:p>
      </dgm:t>
    </dgm:pt>
    <dgm:pt modelId="{3185BD58-F012-4842-853F-4B84FD0AF530}">
      <dgm:prSet phldrT="[Text]" custT="1"/>
      <dgm:spPr/>
      <dgm:t>
        <a:bodyPr/>
        <a:lstStyle/>
        <a:p>
          <a:pPr>
            <a:buNone/>
          </a:pPr>
          <a:r>
            <a:rPr lang="en-US" sz="1600" dirty="0"/>
            <a:t>This project focuses on predicting district PGI grades (2018–2023) using machine learning models ,</a:t>
          </a:r>
        </a:p>
        <a:p>
          <a:pPr>
            <a:buNone/>
          </a:pPr>
          <a:r>
            <a:rPr lang="en-US" sz="1600" dirty="0"/>
            <a:t>It analyzes trends and evaluates model performance on the dataset</a:t>
          </a:r>
          <a:endParaRPr lang="en-IN" sz="1600" dirty="0"/>
        </a:p>
      </dgm:t>
    </dgm:pt>
    <dgm:pt modelId="{2D85C203-30D0-41BA-B8F4-F7D148BAE148}" type="parTrans" cxnId="{E6F5823B-697F-4306-89A4-AA7A7BBF1BB2}">
      <dgm:prSet/>
      <dgm:spPr/>
      <dgm:t>
        <a:bodyPr/>
        <a:lstStyle/>
        <a:p>
          <a:endParaRPr lang="en-IN"/>
        </a:p>
      </dgm:t>
    </dgm:pt>
    <dgm:pt modelId="{B7BED8D1-B69A-4B6B-99F8-83DA82D95522}" type="sibTrans" cxnId="{E6F5823B-697F-4306-89A4-AA7A7BBF1BB2}">
      <dgm:prSet/>
      <dgm:spPr/>
      <dgm:t>
        <a:bodyPr/>
        <a:lstStyle/>
        <a:p>
          <a:endParaRPr lang="en-IN"/>
        </a:p>
      </dgm:t>
    </dgm:pt>
    <dgm:pt modelId="{A8EDF8F3-CFBA-452A-BDBA-F944A9A4A3D8}">
      <dgm:prSet phldrT="[Text]" phldr="0" custT="1"/>
      <dgm:spPr/>
      <dgm:t>
        <a:bodyPr/>
        <a:lstStyle/>
        <a:p>
          <a:r>
            <a:rPr lang="en-US" sz="3200" dirty="0"/>
            <a:t>Dataset</a:t>
          </a:r>
          <a:endParaRPr lang="en-IN" sz="3200" dirty="0"/>
        </a:p>
      </dgm:t>
    </dgm:pt>
    <dgm:pt modelId="{0497CDFE-6A95-4706-AC73-F710D029D7B1}" type="parTrans" cxnId="{7132DC8F-2EB2-4A8E-B5D2-D81FE6123F9D}">
      <dgm:prSet/>
      <dgm:spPr/>
      <dgm:t>
        <a:bodyPr/>
        <a:lstStyle/>
        <a:p>
          <a:endParaRPr lang="en-IN"/>
        </a:p>
      </dgm:t>
    </dgm:pt>
    <dgm:pt modelId="{7964F917-8F86-42BB-B8E4-7A0A4A05F135}" type="sibTrans" cxnId="{7132DC8F-2EB2-4A8E-B5D2-D81FE6123F9D}">
      <dgm:prSet/>
      <dgm:spPr/>
      <dgm:t>
        <a:bodyPr/>
        <a:lstStyle/>
        <a:p>
          <a:endParaRPr lang="en-IN"/>
        </a:p>
      </dgm:t>
    </dgm:pt>
    <dgm:pt modelId="{AD4702AC-9ED1-4E1C-A30C-52886F914D51}">
      <dgm:prSet phldrT="[Text]" custT="1"/>
      <dgm:spPr/>
      <dgm:t>
        <a:bodyPr/>
        <a:lstStyle/>
        <a:p>
          <a:pPr>
            <a:buNone/>
          </a:pPr>
          <a:r>
            <a:rPr lang="en-US" sz="1600" dirty="0"/>
            <a:t>District-wise PGI data collected over </a:t>
          </a:r>
          <a:r>
            <a:rPr lang="en-US" sz="1600" b="1" dirty="0"/>
            <a:t>six years (2018–2023)</a:t>
          </a:r>
          <a:r>
            <a:rPr lang="en-US" sz="1600" dirty="0"/>
            <a:t> </a:t>
          </a:r>
        </a:p>
        <a:p>
          <a:pPr>
            <a:buNone/>
          </a:pPr>
          <a:r>
            <a:rPr lang="en-US" sz="1600" dirty="0"/>
            <a:t>Includes multiple performance indicators</a:t>
          </a:r>
          <a:endParaRPr lang="en-IN" sz="1600" b="1" dirty="0"/>
        </a:p>
      </dgm:t>
    </dgm:pt>
    <dgm:pt modelId="{A7412399-0BF3-4DAF-9221-5EF57974E9A9}" type="parTrans" cxnId="{D3E4D789-A657-40DE-ABC0-7E1D5305F89F}">
      <dgm:prSet/>
      <dgm:spPr/>
      <dgm:t>
        <a:bodyPr/>
        <a:lstStyle/>
        <a:p>
          <a:endParaRPr lang="en-IN"/>
        </a:p>
      </dgm:t>
    </dgm:pt>
    <dgm:pt modelId="{50DC6EC6-876C-4728-93D0-ECF452C24A22}" type="sibTrans" cxnId="{D3E4D789-A657-40DE-ABC0-7E1D5305F89F}">
      <dgm:prSet/>
      <dgm:spPr/>
      <dgm:t>
        <a:bodyPr/>
        <a:lstStyle/>
        <a:p>
          <a:endParaRPr lang="en-IN"/>
        </a:p>
      </dgm:t>
    </dgm:pt>
    <dgm:pt modelId="{F5483F41-A77D-4270-B1AC-7F81991BB7D1}">
      <dgm:prSet phldrT="[Text]" phldr="0"/>
      <dgm:spPr/>
      <dgm:t>
        <a:bodyPr/>
        <a:lstStyle/>
        <a:p>
          <a:r>
            <a:rPr lang="en-US" dirty="0"/>
            <a:t>2</a:t>
          </a:r>
          <a:r>
            <a:rPr lang="en-US" baseline="30000" dirty="0"/>
            <a:t>nd</a:t>
          </a:r>
          <a:r>
            <a:rPr lang="en-US" dirty="0"/>
            <a:t> </a:t>
          </a:r>
          <a:endParaRPr lang="en-IN" dirty="0"/>
        </a:p>
      </dgm:t>
    </dgm:pt>
    <dgm:pt modelId="{53260968-E6D9-47C1-A7AD-4680D21604D9}" type="sibTrans" cxnId="{1A72D720-244D-49D4-8A81-997A00CE1C90}">
      <dgm:prSet/>
      <dgm:spPr/>
      <dgm:t>
        <a:bodyPr/>
        <a:lstStyle/>
        <a:p>
          <a:endParaRPr lang="en-IN"/>
        </a:p>
      </dgm:t>
    </dgm:pt>
    <dgm:pt modelId="{029EF0F5-F36B-48EB-A9DE-508075F2D168}" type="parTrans" cxnId="{1A72D720-244D-49D4-8A81-997A00CE1C90}">
      <dgm:prSet/>
      <dgm:spPr/>
      <dgm:t>
        <a:bodyPr/>
        <a:lstStyle/>
        <a:p>
          <a:endParaRPr lang="en-IN"/>
        </a:p>
      </dgm:t>
    </dgm:pt>
    <dgm:pt modelId="{06643A6D-34A7-48C3-BCA1-4EB34F695E6F}" type="pres">
      <dgm:prSet presAssocID="{44243555-C758-42CA-A422-090E8D3F3FCC}" presName="list" presStyleCnt="0">
        <dgm:presLayoutVars>
          <dgm:dir/>
          <dgm:animLvl val="lvl"/>
        </dgm:presLayoutVars>
      </dgm:prSet>
      <dgm:spPr/>
    </dgm:pt>
    <dgm:pt modelId="{521D7BD8-7F8B-4CA2-B220-36FDB2F374AE}" type="pres">
      <dgm:prSet presAssocID="{DDA54E97-9103-4927-9130-BCCF04A21786}" presName="posSpace" presStyleCnt="0"/>
      <dgm:spPr/>
    </dgm:pt>
    <dgm:pt modelId="{7E92C11C-08FE-4779-BB9E-FFFDCB8B3137}" type="pres">
      <dgm:prSet presAssocID="{DDA54E97-9103-4927-9130-BCCF04A21786}" presName="vertFlow" presStyleCnt="0"/>
      <dgm:spPr/>
    </dgm:pt>
    <dgm:pt modelId="{8283BAB4-1A7F-472B-B057-AF82D711FEE3}" type="pres">
      <dgm:prSet presAssocID="{DDA54E97-9103-4927-9130-BCCF04A21786}" presName="topSpace" presStyleCnt="0"/>
      <dgm:spPr/>
    </dgm:pt>
    <dgm:pt modelId="{20861423-D905-43FC-A2ED-6FA56AD5995C}" type="pres">
      <dgm:prSet presAssocID="{DDA54E97-9103-4927-9130-BCCF04A21786}" presName="firstComp" presStyleCnt="0"/>
      <dgm:spPr/>
    </dgm:pt>
    <dgm:pt modelId="{5B96FB60-E561-4D7F-8890-25A42299789A}" type="pres">
      <dgm:prSet presAssocID="{DDA54E97-9103-4927-9130-BCCF04A21786}" presName="firstChild" presStyleLbl="bgAccFollowNode1" presStyleIdx="0" presStyleCnt="4" custScaleX="122471" custScaleY="70849"/>
      <dgm:spPr/>
    </dgm:pt>
    <dgm:pt modelId="{DF69CCF1-2709-4738-8AD3-B9FA3E70425E}" type="pres">
      <dgm:prSet presAssocID="{DDA54E97-9103-4927-9130-BCCF04A21786}" presName="firstChildTx" presStyleLbl="bgAccFollowNode1" presStyleIdx="0" presStyleCnt="4">
        <dgm:presLayoutVars>
          <dgm:bulletEnabled val="1"/>
        </dgm:presLayoutVars>
      </dgm:prSet>
      <dgm:spPr/>
    </dgm:pt>
    <dgm:pt modelId="{4153ADEE-FCCA-4CA1-A320-32AF4C19789D}" type="pres">
      <dgm:prSet presAssocID="{3185BD58-F012-4842-853F-4B84FD0AF530}" presName="comp" presStyleCnt="0"/>
      <dgm:spPr/>
    </dgm:pt>
    <dgm:pt modelId="{B38BA3D0-AABF-466A-A333-8BA6628C6C42}" type="pres">
      <dgm:prSet presAssocID="{3185BD58-F012-4842-853F-4B84FD0AF530}" presName="child" presStyleLbl="bgAccFollowNode1" presStyleIdx="1" presStyleCnt="4" custScaleX="122344" custScaleY="126997"/>
      <dgm:spPr/>
    </dgm:pt>
    <dgm:pt modelId="{2E85A70D-7F5D-4030-9361-09E350D7181E}" type="pres">
      <dgm:prSet presAssocID="{3185BD58-F012-4842-853F-4B84FD0AF530}" presName="childTx" presStyleLbl="bgAccFollowNode1" presStyleIdx="1" presStyleCnt="4">
        <dgm:presLayoutVars>
          <dgm:bulletEnabled val="1"/>
        </dgm:presLayoutVars>
      </dgm:prSet>
      <dgm:spPr/>
    </dgm:pt>
    <dgm:pt modelId="{8FAE3FA9-5194-4377-9AE0-8C38E13F1635}" type="pres">
      <dgm:prSet presAssocID="{DDA54E97-9103-4927-9130-BCCF04A21786}" presName="negSpace" presStyleCnt="0"/>
      <dgm:spPr/>
    </dgm:pt>
    <dgm:pt modelId="{59E93D7F-A80D-4ABA-935D-9458722CA522}" type="pres">
      <dgm:prSet presAssocID="{DDA54E97-9103-4927-9130-BCCF04A21786}" presName="circle" presStyleLbl="node1" presStyleIdx="0" presStyleCnt="2" custScaleX="57431" custScaleY="55428"/>
      <dgm:spPr/>
    </dgm:pt>
    <dgm:pt modelId="{F0C8E0AF-2169-4E4F-AF37-7A894E40969F}" type="pres">
      <dgm:prSet presAssocID="{1A02BD7E-2349-4728-88D9-A1B9EB52B524}" presName="transSpace" presStyleCnt="0"/>
      <dgm:spPr/>
    </dgm:pt>
    <dgm:pt modelId="{89224494-D5CF-447A-8EDC-032E18B542FA}" type="pres">
      <dgm:prSet presAssocID="{F5483F41-A77D-4270-B1AC-7F81991BB7D1}" presName="posSpace" presStyleCnt="0"/>
      <dgm:spPr/>
    </dgm:pt>
    <dgm:pt modelId="{023D3AA3-D308-4CB2-80AB-4367FFAE8D64}" type="pres">
      <dgm:prSet presAssocID="{F5483F41-A77D-4270-B1AC-7F81991BB7D1}" presName="vertFlow" presStyleCnt="0"/>
      <dgm:spPr/>
    </dgm:pt>
    <dgm:pt modelId="{042F115F-F6DC-48C2-B190-54722C322451}" type="pres">
      <dgm:prSet presAssocID="{F5483F41-A77D-4270-B1AC-7F81991BB7D1}" presName="topSpace" presStyleCnt="0"/>
      <dgm:spPr/>
    </dgm:pt>
    <dgm:pt modelId="{ACEEF775-BD85-46B9-B130-0C24054179FE}" type="pres">
      <dgm:prSet presAssocID="{F5483F41-A77D-4270-B1AC-7F81991BB7D1}" presName="firstComp" presStyleCnt="0"/>
      <dgm:spPr/>
    </dgm:pt>
    <dgm:pt modelId="{382D49A0-D202-4480-9A98-26DB90B32BF5}" type="pres">
      <dgm:prSet presAssocID="{F5483F41-A77D-4270-B1AC-7F81991BB7D1}" presName="firstChild" presStyleLbl="bgAccFollowNode1" presStyleIdx="2" presStyleCnt="4" custScaleX="115802" custScaleY="75965" custLinFactNeighborX="-18641"/>
      <dgm:spPr/>
    </dgm:pt>
    <dgm:pt modelId="{A6318003-C351-4485-A552-528A94C499A7}" type="pres">
      <dgm:prSet presAssocID="{F5483F41-A77D-4270-B1AC-7F81991BB7D1}" presName="firstChildTx" presStyleLbl="bgAccFollowNode1" presStyleIdx="2" presStyleCnt="4">
        <dgm:presLayoutVars>
          <dgm:bulletEnabled val="1"/>
        </dgm:presLayoutVars>
      </dgm:prSet>
      <dgm:spPr/>
    </dgm:pt>
    <dgm:pt modelId="{7126CA62-07FF-4A41-9DD7-4402917B5D63}" type="pres">
      <dgm:prSet presAssocID="{AD4702AC-9ED1-4E1C-A30C-52886F914D51}" presName="comp" presStyleCnt="0"/>
      <dgm:spPr/>
    </dgm:pt>
    <dgm:pt modelId="{A338D799-A3A9-4F65-A8A2-4BEDDA27D3AA}" type="pres">
      <dgm:prSet presAssocID="{AD4702AC-9ED1-4E1C-A30C-52886F914D51}" presName="child" presStyleLbl="bgAccFollowNode1" presStyleIdx="3" presStyleCnt="4" custScaleX="115802" custScaleY="123714" custLinFactNeighborX="-18640"/>
      <dgm:spPr/>
    </dgm:pt>
    <dgm:pt modelId="{058B9B9B-DF51-4C29-A4F8-FBA890702927}" type="pres">
      <dgm:prSet presAssocID="{AD4702AC-9ED1-4E1C-A30C-52886F914D51}" presName="childTx" presStyleLbl="bgAccFollowNode1" presStyleIdx="3" presStyleCnt="4">
        <dgm:presLayoutVars>
          <dgm:bulletEnabled val="1"/>
        </dgm:presLayoutVars>
      </dgm:prSet>
      <dgm:spPr/>
    </dgm:pt>
    <dgm:pt modelId="{E80194AC-D674-40BC-85F7-3F82CE17F2DF}" type="pres">
      <dgm:prSet presAssocID="{F5483F41-A77D-4270-B1AC-7F81991BB7D1}" presName="negSpace" presStyleCnt="0"/>
      <dgm:spPr/>
    </dgm:pt>
    <dgm:pt modelId="{A7E994FB-8230-497F-AD9B-866127105AC1}" type="pres">
      <dgm:prSet presAssocID="{F5483F41-A77D-4270-B1AC-7F81991BB7D1}" presName="circle" presStyleLbl="node1" presStyleIdx="1" presStyleCnt="2" custScaleX="57128" custScaleY="57495" custLinFactNeighborX="-3064" custLinFactNeighborY="1056"/>
      <dgm:spPr/>
    </dgm:pt>
  </dgm:ptLst>
  <dgm:cxnLst>
    <dgm:cxn modelId="{4082AC13-C955-4D44-A8EB-6ECFAC9AA4AE}" type="presOf" srcId="{DDA54E97-9103-4927-9130-BCCF04A21786}" destId="{59E93D7F-A80D-4ABA-935D-9458722CA522}" srcOrd="0" destOrd="0" presId="urn:microsoft.com/office/officeart/2005/8/layout/hList9"/>
    <dgm:cxn modelId="{4E980B1B-FB38-404C-BCE5-7291D80C5736}" type="presOf" srcId="{9778BECD-B430-41E4-9895-93E5B1DC1507}" destId="{DF69CCF1-2709-4738-8AD3-B9FA3E70425E}" srcOrd="1" destOrd="0" presId="urn:microsoft.com/office/officeart/2005/8/layout/hList9"/>
    <dgm:cxn modelId="{3180D11F-D3B4-4DF9-AB31-16EB8A71F82E}" type="presOf" srcId="{F5483F41-A77D-4270-B1AC-7F81991BB7D1}" destId="{A7E994FB-8230-497F-AD9B-866127105AC1}" srcOrd="0" destOrd="0" presId="urn:microsoft.com/office/officeart/2005/8/layout/hList9"/>
    <dgm:cxn modelId="{1A72D720-244D-49D4-8A81-997A00CE1C90}" srcId="{44243555-C758-42CA-A422-090E8D3F3FCC}" destId="{F5483F41-A77D-4270-B1AC-7F81991BB7D1}" srcOrd="1" destOrd="0" parTransId="{029EF0F5-F36B-48EB-A9DE-508075F2D168}" sibTransId="{53260968-E6D9-47C1-A7AD-4680D21604D9}"/>
    <dgm:cxn modelId="{E6F5823B-697F-4306-89A4-AA7A7BBF1BB2}" srcId="{DDA54E97-9103-4927-9130-BCCF04A21786}" destId="{3185BD58-F012-4842-853F-4B84FD0AF530}" srcOrd="1" destOrd="0" parTransId="{2D85C203-30D0-41BA-B8F4-F7D148BAE148}" sibTransId="{B7BED8D1-B69A-4B6B-99F8-83DA82D95522}"/>
    <dgm:cxn modelId="{C0427B43-86DD-44DD-8B92-C189A11D9759}" type="presOf" srcId="{A8EDF8F3-CFBA-452A-BDBA-F944A9A4A3D8}" destId="{A6318003-C351-4485-A552-528A94C499A7}" srcOrd="1" destOrd="0" presId="urn:microsoft.com/office/officeart/2005/8/layout/hList9"/>
    <dgm:cxn modelId="{68B04D6F-DC99-44CA-A071-249ACF0817AF}" type="presOf" srcId="{3185BD58-F012-4842-853F-4B84FD0AF530}" destId="{B38BA3D0-AABF-466A-A333-8BA6628C6C42}" srcOrd="0" destOrd="0" presId="urn:microsoft.com/office/officeart/2005/8/layout/hList9"/>
    <dgm:cxn modelId="{E684AD7B-6E1A-4A86-B705-E6EECBCBB6F9}" type="presOf" srcId="{A8EDF8F3-CFBA-452A-BDBA-F944A9A4A3D8}" destId="{382D49A0-D202-4480-9A98-26DB90B32BF5}" srcOrd="0" destOrd="0" presId="urn:microsoft.com/office/officeart/2005/8/layout/hList9"/>
    <dgm:cxn modelId="{048FA386-8AB7-46E5-89FC-170E661FA5A9}" srcId="{44243555-C758-42CA-A422-090E8D3F3FCC}" destId="{DDA54E97-9103-4927-9130-BCCF04A21786}" srcOrd="0" destOrd="0" parTransId="{58998B40-95F0-4C8B-9F0D-E0AA3ED2C044}" sibTransId="{1A02BD7E-2349-4728-88D9-A1B9EB52B524}"/>
    <dgm:cxn modelId="{D3E4D789-A657-40DE-ABC0-7E1D5305F89F}" srcId="{F5483F41-A77D-4270-B1AC-7F81991BB7D1}" destId="{AD4702AC-9ED1-4E1C-A30C-52886F914D51}" srcOrd="1" destOrd="0" parTransId="{A7412399-0BF3-4DAF-9221-5EF57974E9A9}" sibTransId="{50DC6EC6-876C-4728-93D0-ECF452C24A22}"/>
    <dgm:cxn modelId="{5C11E589-EF04-4C97-9218-FA59ACCD4A3D}" type="presOf" srcId="{44243555-C758-42CA-A422-090E8D3F3FCC}" destId="{06643A6D-34A7-48C3-BCA1-4EB34F695E6F}" srcOrd="0" destOrd="0" presId="urn:microsoft.com/office/officeart/2005/8/layout/hList9"/>
    <dgm:cxn modelId="{7132DC8F-2EB2-4A8E-B5D2-D81FE6123F9D}" srcId="{F5483F41-A77D-4270-B1AC-7F81991BB7D1}" destId="{A8EDF8F3-CFBA-452A-BDBA-F944A9A4A3D8}" srcOrd="0" destOrd="0" parTransId="{0497CDFE-6A95-4706-AC73-F710D029D7B1}" sibTransId="{7964F917-8F86-42BB-B8E4-7A0A4A05F135}"/>
    <dgm:cxn modelId="{2C5F75CA-52EA-4060-95EE-5D6BA09A2BCE}" srcId="{DDA54E97-9103-4927-9130-BCCF04A21786}" destId="{9778BECD-B430-41E4-9895-93E5B1DC1507}" srcOrd="0" destOrd="0" parTransId="{E0312018-DF9D-401C-80DE-7B15EF4B2C56}" sibTransId="{2481B23B-38D9-4230-9D57-A77CA76E1D00}"/>
    <dgm:cxn modelId="{427B17CE-379C-4972-8E5F-D2A8BE744917}" type="presOf" srcId="{AD4702AC-9ED1-4E1C-A30C-52886F914D51}" destId="{A338D799-A3A9-4F65-A8A2-4BEDDA27D3AA}" srcOrd="0" destOrd="0" presId="urn:microsoft.com/office/officeart/2005/8/layout/hList9"/>
    <dgm:cxn modelId="{1767F4D0-DCD4-4C4E-927A-B4F3D18F3CCF}" type="presOf" srcId="{3185BD58-F012-4842-853F-4B84FD0AF530}" destId="{2E85A70D-7F5D-4030-9361-09E350D7181E}" srcOrd="1" destOrd="0" presId="urn:microsoft.com/office/officeart/2005/8/layout/hList9"/>
    <dgm:cxn modelId="{490B98E3-9EAA-400D-851B-A4941468FE4A}" type="presOf" srcId="{AD4702AC-9ED1-4E1C-A30C-52886F914D51}" destId="{058B9B9B-DF51-4C29-A4F8-FBA890702927}" srcOrd="1" destOrd="0" presId="urn:microsoft.com/office/officeart/2005/8/layout/hList9"/>
    <dgm:cxn modelId="{36236DF0-8C98-41BA-9CD0-EB9081007165}" type="presOf" srcId="{9778BECD-B430-41E4-9895-93E5B1DC1507}" destId="{5B96FB60-E561-4D7F-8890-25A42299789A}" srcOrd="0" destOrd="0" presId="urn:microsoft.com/office/officeart/2005/8/layout/hList9"/>
    <dgm:cxn modelId="{475CD3F8-F741-4EA6-9896-2AAC9D40F309}" type="presParOf" srcId="{06643A6D-34A7-48C3-BCA1-4EB34F695E6F}" destId="{521D7BD8-7F8B-4CA2-B220-36FDB2F374AE}" srcOrd="0" destOrd="0" presId="urn:microsoft.com/office/officeart/2005/8/layout/hList9"/>
    <dgm:cxn modelId="{B0367DC8-AF11-4361-99CA-584D2942E720}" type="presParOf" srcId="{06643A6D-34A7-48C3-BCA1-4EB34F695E6F}" destId="{7E92C11C-08FE-4779-BB9E-FFFDCB8B3137}" srcOrd="1" destOrd="0" presId="urn:microsoft.com/office/officeart/2005/8/layout/hList9"/>
    <dgm:cxn modelId="{CA5935F9-F10D-4150-B34D-483720A92694}" type="presParOf" srcId="{7E92C11C-08FE-4779-BB9E-FFFDCB8B3137}" destId="{8283BAB4-1A7F-472B-B057-AF82D711FEE3}" srcOrd="0" destOrd="0" presId="urn:microsoft.com/office/officeart/2005/8/layout/hList9"/>
    <dgm:cxn modelId="{47B2B2E5-F4A8-4627-92C3-1BFD495611B9}" type="presParOf" srcId="{7E92C11C-08FE-4779-BB9E-FFFDCB8B3137}" destId="{20861423-D905-43FC-A2ED-6FA56AD5995C}" srcOrd="1" destOrd="0" presId="urn:microsoft.com/office/officeart/2005/8/layout/hList9"/>
    <dgm:cxn modelId="{7A945D02-6D24-4382-A7FB-87DC71376AC7}" type="presParOf" srcId="{20861423-D905-43FC-A2ED-6FA56AD5995C}" destId="{5B96FB60-E561-4D7F-8890-25A42299789A}" srcOrd="0" destOrd="0" presId="urn:microsoft.com/office/officeart/2005/8/layout/hList9"/>
    <dgm:cxn modelId="{9B1EC2DC-7629-4BCA-BE61-351EA2EE1887}" type="presParOf" srcId="{20861423-D905-43FC-A2ED-6FA56AD5995C}" destId="{DF69CCF1-2709-4738-8AD3-B9FA3E70425E}" srcOrd="1" destOrd="0" presId="urn:microsoft.com/office/officeart/2005/8/layout/hList9"/>
    <dgm:cxn modelId="{E8099648-FD6C-4354-9A9E-B8795DFEB694}" type="presParOf" srcId="{7E92C11C-08FE-4779-BB9E-FFFDCB8B3137}" destId="{4153ADEE-FCCA-4CA1-A320-32AF4C19789D}" srcOrd="2" destOrd="0" presId="urn:microsoft.com/office/officeart/2005/8/layout/hList9"/>
    <dgm:cxn modelId="{6A50684B-2FB6-4997-B432-183BB37189FA}" type="presParOf" srcId="{4153ADEE-FCCA-4CA1-A320-32AF4C19789D}" destId="{B38BA3D0-AABF-466A-A333-8BA6628C6C42}" srcOrd="0" destOrd="0" presId="urn:microsoft.com/office/officeart/2005/8/layout/hList9"/>
    <dgm:cxn modelId="{0C579B40-0E74-4F32-AD60-C2DA8FD09F2E}" type="presParOf" srcId="{4153ADEE-FCCA-4CA1-A320-32AF4C19789D}" destId="{2E85A70D-7F5D-4030-9361-09E350D7181E}" srcOrd="1" destOrd="0" presId="urn:microsoft.com/office/officeart/2005/8/layout/hList9"/>
    <dgm:cxn modelId="{F9CFDC7A-D9B3-4E4F-B06D-43F3BCB86EAA}" type="presParOf" srcId="{06643A6D-34A7-48C3-BCA1-4EB34F695E6F}" destId="{8FAE3FA9-5194-4377-9AE0-8C38E13F1635}" srcOrd="2" destOrd="0" presId="urn:microsoft.com/office/officeart/2005/8/layout/hList9"/>
    <dgm:cxn modelId="{1513411F-308A-4894-A900-69E7457EC2D6}" type="presParOf" srcId="{06643A6D-34A7-48C3-BCA1-4EB34F695E6F}" destId="{59E93D7F-A80D-4ABA-935D-9458722CA522}" srcOrd="3" destOrd="0" presId="urn:microsoft.com/office/officeart/2005/8/layout/hList9"/>
    <dgm:cxn modelId="{5D9A050D-D580-4214-84E7-4690C12FECA7}" type="presParOf" srcId="{06643A6D-34A7-48C3-BCA1-4EB34F695E6F}" destId="{F0C8E0AF-2169-4E4F-AF37-7A894E40969F}" srcOrd="4" destOrd="0" presId="urn:microsoft.com/office/officeart/2005/8/layout/hList9"/>
    <dgm:cxn modelId="{17169FBD-6D4E-46C1-B039-77CBB12C83F9}" type="presParOf" srcId="{06643A6D-34A7-48C3-BCA1-4EB34F695E6F}" destId="{89224494-D5CF-447A-8EDC-032E18B542FA}" srcOrd="5" destOrd="0" presId="urn:microsoft.com/office/officeart/2005/8/layout/hList9"/>
    <dgm:cxn modelId="{D65E5A01-E4FA-42A1-A877-C3934F095D41}" type="presParOf" srcId="{06643A6D-34A7-48C3-BCA1-4EB34F695E6F}" destId="{023D3AA3-D308-4CB2-80AB-4367FFAE8D64}" srcOrd="6" destOrd="0" presId="urn:microsoft.com/office/officeart/2005/8/layout/hList9"/>
    <dgm:cxn modelId="{ADA0EA0C-7699-4A74-BA09-D0390CD77899}" type="presParOf" srcId="{023D3AA3-D308-4CB2-80AB-4367FFAE8D64}" destId="{042F115F-F6DC-48C2-B190-54722C322451}" srcOrd="0" destOrd="0" presId="urn:microsoft.com/office/officeart/2005/8/layout/hList9"/>
    <dgm:cxn modelId="{3D051C39-9B68-4E3F-9FEF-06429C792F29}" type="presParOf" srcId="{023D3AA3-D308-4CB2-80AB-4367FFAE8D64}" destId="{ACEEF775-BD85-46B9-B130-0C24054179FE}" srcOrd="1" destOrd="0" presId="urn:microsoft.com/office/officeart/2005/8/layout/hList9"/>
    <dgm:cxn modelId="{B0579BAA-8AB6-46CF-826D-3E7DEAD1C4E3}" type="presParOf" srcId="{ACEEF775-BD85-46B9-B130-0C24054179FE}" destId="{382D49A0-D202-4480-9A98-26DB90B32BF5}" srcOrd="0" destOrd="0" presId="urn:microsoft.com/office/officeart/2005/8/layout/hList9"/>
    <dgm:cxn modelId="{6C1B712A-73E7-4C9D-883F-5583642AA462}" type="presParOf" srcId="{ACEEF775-BD85-46B9-B130-0C24054179FE}" destId="{A6318003-C351-4485-A552-528A94C499A7}" srcOrd="1" destOrd="0" presId="urn:microsoft.com/office/officeart/2005/8/layout/hList9"/>
    <dgm:cxn modelId="{463EAB78-5D11-4082-A4B5-D449B7230DB5}" type="presParOf" srcId="{023D3AA3-D308-4CB2-80AB-4367FFAE8D64}" destId="{7126CA62-07FF-4A41-9DD7-4402917B5D63}" srcOrd="2" destOrd="0" presId="urn:microsoft.com/office/officeart/2005/8/layout/hList9"/>
    <dgm:cxn modelId="{6F471FC1-400B-4DA0-A4B7-FA5E2F22A10C}" type="presParOf" srcId="{7126CA62-07FF-4A41-9DD7-4402917B5D63}" destId="{A338D799-A3A9-4F65-A8A2-4BEDDA27D3AA}" srcOrd="0" destOrd="0" presId="urn:microsoft.com/office/officeart/2005/8/layout/hList9"/>
    <dgm:cxn modelId="{DC3D49FB-14E0-4F25-AF55-A8F8EC12BD42}" type="presParOf" srcId="{7126CA62-07FF-4A41-9DD7-4402917B5D63}" destId="{058B9B9B-DF51-4C29-A4F8-FBA890702927}" srcOrd="1" destOrd="0" presId="urn:microsoft.com/office/officeart/2005/8/layout/hList9"/>
    <dgm:cxn modelId="{ACFDDCA2-627D-4476-8ECD-C8092235FA96}" type="presParOf" srcId="{06643A6D-34A7-48C3-BCA1-4EB34F695E6F}" destId="{E80194AC-D674-40BC-85F7-3F82CE17F2DF}" srcOrd="7" destOrd="0" presId="urn:microsoft.com/office/officeart/2005/8/layout/hList9"/>
    <dgm:cxn modelId="{53CCF318-4D16-4694-8B2C-7D541644CD09}" type="presParOf" srcId="{06643A6D-34A7-48C3-BCA1-4EB34F695E6F}" destId="{A7E994FB-8230-497F-AD9B-866127105AC1}" srcOrd="8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A032A2F-7896-4FB6-B6CA-8E9007E12522}" type="doc">
      <dgm:prSet loTypeId="urn:microsoft.com/office/officeart/2005/8/layout/hList9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C825A29-8334-4E41-BA2A-CFAD7E92D9FE}">
      <dgm:prSet phldrT="[Text]" phldr="0"/>
      <dgm:spPr/>
      <dgm:t>
        <a:bodyPr/>
        <a:lstStyle/>
        <a:p>
          <a:r>
            <a:rPr lang="en-US" dirty="0"/>
            <a:t>3</a:t>
          </a:r>
          <a:r>
            <a:rPr lang="en-US" baseline="30000" dirty="0"/>
            <a:t>rd</a:t>
          </a:r>
          <a:r>
            <a:rPr lang="en-US" dirty="0"/>
            <a:t> </a:t>
          </a:r>
          <a:endParaRPr lang="en-IN" dirty="0"/>
        </a:p>
      </dgm:t>
    </dgm:pt>
    <dgm:pt modelId="{8DC36585-0AFE-4399-AA60-49C700A65E00}" type="parTrans" cxnId="{7E29C32D-5E99-43B0-93C7-1D7F4360DEC6}">
      <dgm:prSet/>
      <dgm:spPr/>
      <dgm:t>
        <a:bodyPr/>
        <a:lstStyle/>
        <a:p>
          <a:endParaRPr lang="en-IN"/>
        </a:p>
      </dgm:t>
    </dgm:pt>
    <dgm:pt modelId="{734089C5-C7BC-4872-BFCB-D6AFAB94F329}" type="sibTrans" cxnId="{7E29C32D-5E99-43B0-93C7-1D7F4360DEC6}">
      <dgm:prSet/>
      <dgm:spPr/>
      <dgm:t>
        <a:bodyPr/>
        <a:lstStyle/>
        <a:p>
          <a:endParaRPr lang="en-IN"/>
        </a:p>
      </dgm:t>
    </dgm:pt>
    <dgm:pt modelId="{3FFE6126-ADBB-4251-AF07-7AE2468EE989}">
      <dgm:prSet phldrT="[Text]" custT="1"/>
      <dgm:spPr/>
      <dgm:t>
        <a:bodyPr/>
        <a:lstStyle/>
        <a:p>
          <a:pPr>
            <a:buNone/>
          </a:pPr>
          <a:r>
            <a:rPr lang="en-IN" sz="3200" dirty="0"/>
            <a:t>Objective</a:t>
          </a:r>
          <a:endParaRPr lang="en-IN" sz="3200" b="1" dirty="0"/>
        </a:p>
      </dgm:t>
    </dgm:pt>
    <dgm:pt modelId="{0D5BC246-F4C3-4DF2-990C-F4E2D724F7A5}" type="parTrans" cxnId="{4122CD46-7F6B-49AC-98D3-842F7688F627}">
      <dgm:prSet/>
      <dgm:spPr/>
      <dgm:t>
        <a:bodyPr/>
        <a:lstStyle/>
        <a:p>
          <a:endParaRPr lang="en-IN"/>
        </a:p>
      </dgm:t>
    </dgm:pt>
    <dgm:pt modelId="{A85DE5D1-B7AE-4F6D-AFD9-9C31776AAD2E}" type="sibTrans" cxnId="{4122CD46-7F6B-49AC-98D3-842F7688F627}">
      <dgm:prSet/>
      <dgm:spPr/>
      <dgm:t>
        <a:bodyPr/>
        <a:lstStyle/>
        <a:p>
          <a:endParaRPr lang="en-IN"/>
        </a:p>
      </dgm:t>
    </dgm:pt>
    <dgm:pt modelId="{AEB82C77-EF14-4E72-8D62-78DE0CF577C1}">
      <dgm:prSet phldrT="[Text]" custT="1"/>
      <dgm:spPr/>
      <dgm:t>
        <a:bodyPr/>
        <a:lstStyle/>
        <a:p>
          <a:pPr>
            <a:buNone/>
          </a:pPr>
          <a:r>
            <a:rPr lang="en-US" sz="1600" dirty="0"/>
            <a:t>To predict district </a:t>
          </a:r>
          <a:r>
            <a:rPr lang="en-US" sz="1600" b="1" dirty="0"/>
            <a:t>performance grades</a:t>
          </a:r>
          <a:r>
            <a:rPr lang="en-US" sz="1600" dirty="0"/>
            <a:t> using machine learning techniques</a:t>
          </a:r>
          <a:endParaRPr lang="en-IN" sz="1600" dirty="0"/>
        </a:p>
      </dgm:t>
    </dgm:pt>
    <dgm:pt modelId="{D93BEBB5-83C9-4116-90DF-18B2B5DE99AD}" type="parTrans" cxnId="{2BA9E257-3340-4ECB-9EE2-BC3DA8F63E64}">
      <dgm:prSet/>
      <dgm:spPr/>
      <dgm:t>
        <a:bodyPr/>
        <a:lstStyle/>
        <a:p>
          <a:endParaRPr lang="en-IN"/>
        </a:p>
      </dgm:t>
    </dgm:pt>
    <dgm:pt modelId="{BA700CE7-F1F7-495B-9327-53373CEC0AAF}" type="sibTrans" cxnId="{2BA9E257-3340-4ECB-9EE2-BC3DA8F63E64}">
      <dgm:prSet/>
      <dgm:spPr/>
      <dgm:t>
        <a:bodyPr/>
        <a:lstStyle/>
        <a:p>
          <a:endParaRPr lang="en-IN"/>
        </a:p>
      </dgm:t>
    </dgm:pt>
    <dgm:pt modelId="{45BE2A5D-126C-4EC2-A807-F521EA1AF689}">
      <dgm:prSet phldrT="[Text]" phldr="0"/>
      <dgm:spPr/>
      <dgm:t>
        <a:bodyPr/>
        <a:lstStyle/>
        <a:p>
          <a:r>
            <a:rPr lang="en-US" dirty="0"/>
            <a:t>4</a:t>
          </a:r>
          <a:r>
            <a:rPr lang="en-US" baseline="30000" dirty="0"/>
            <a:t>th</a:t>
          </a:r>
          <a:r>
            <a:rPr lang="en-US" dirty="0"/>
            <a:t> </a:t>
          </a:r>
          <a:endParaRPr lang="en-IN" dirty="0"/>
        </a:p>
      </dgm:t>
    </dgm:pt>
    <dgm:pt modelId="{0CDBF1DF-D960-47BF-8CC8-7F5204BCA07F}" type="parTrans" cxnId="{72F3F978-7000-4BBB-BD02-356A69EBF54C}">
      <dgm:prSet/>
      <dgm:spPr/>
      <dgm:t>
        <a:bodyPr/>
        <a:lstStyle/>
        <a:p>
          <a:endParaRPr lang="en-IN"/>
        </a:p>
      </dgm:t>
    </dgm:pt>
    <dgm:pt modelId="{628D3A9D-F9DD-4744-A9BC-BBF95297D66E}" type="sibTrans" cxnId="{72F3F978-7000-4BBB-BD02-356A69EBF54C}">
      <dgm:prSet/>
      <dgm:spPr/>
      <dgm:t>
        <a:bodyPr/>
        <a:lstStyle/>
        <a:p>
          <a:endParaRPr lang="en-IN"/>
        </a:p>
      </dgm:t>
    </dgm:pt>
    <dgm:pt modelId="{8D900266-E3F4-43BC-BD35-BB01026094FD}">
      <dgm:prSet phldrT="[Text]" phldr="0" custT="1"/>
      <dgm:spPr/>
      <dgm:t>
        <a:bodyPr/>
        <a:lstStyle/>
        <a:p>
          <a:r>
            <a:rPr lang="en-US" sz="2400" dirty="0"/>
            <a:t>Models Used </a:t>
          </a:r>
          <a:endParaRPr lang="en-IN" sz="2400" dirty="0"/>
        </a:p>
      </dgm:t>
    </dgm:pt>
    <dgm:pt modelId="{81E7F756-3B72-40F4-A880-2569B3852613}" type="parTrans" cxnId="{837D2E8C-8E74-4992-8797-EAAF899CD453}">
      <dgm:prSet/>
      <dgm:spPr/>
      <dgm:t>
        <a:bodyPr/>
        <a:lstStyle/>
        <a:p>
          <a:endParaRPr lang="en-IN"/>
        </a:p>
      </dgm:t>
    </dgm:pt>
    <dgm:pt modelId="{4D177A1D-BD0A-4373-B39F-6FA3CFD8E559}" type="sibTrans" cxnId="{837D2E8C-8E74-4992-8797-EAAF899CD453}">
      <dgm:prSet/>
      <dgm:spPr/>
      <dgm:t>
        <a:bodyPr/>
        <a:lstStyle/>
        <a:p>
          <a:endParaRPr lang="en-IN"/>
        </a:p>
      </dgm:t>
    </dgm:pt>
    <dgm:pt modelId="{25C8E61B-3B1E-4EED-9F02-F6CDD03355F3}">
      <dgm:prSet phldrT="[Text]"/>
      <dgm:spPr/>
      <dgm:t>
        <a:bodyPr/>
        <a:lstStyle/>
        <a:p>
          <a:pPr>
            <a:buNone/>
          </a:pPr>
          <a:r>
            <a:rPr lang="en-US" dirty="0"/>
            <a:t>Decision Tree, Random Forest, Gradient Boosting, </a:t>
          </a:r>
          <a:r>
            <a:rPr lang="en-US" dirty="0" err="1"/>
            <a:t>XGBoost</a:t>
          </a:r>
          <a:r>
            <a:rPr lang="en-US" dirty="0"/>
            <a:t>, and Stacking</a:t>
          </a:r>
          <a:endParaRPr lang="en-IN" dirty="0"/>
        </a:p>
      </dgm:t>
    </dgm:pt>
    <dgm:pt modelId="{04C353E4-1EFC-488B-9C35-2013A7EF08A1}" type="parTrans" cxnId="{C6434BCE-565E-4381-B47F-21203814089B}">
      <dgm:prSet/>
      <dgm:spPr/>
      <dgm:t>
        <a:bodyPr/>
        <a:lstStyle/>
        <a:p>
          <a:endParaRPr lang="en-IN"/>
        </a:p>
      </dgm:t>
    </dgm:pt>
    <dgm:pt modelId="{6FDBF4E7-51B2-4EB2-970A-758075793086}" type="sibTrans" cxnId="{C6434BCE-565E-4381-B47F-21203814089B}">
      <dgm:prSet/>
      <dgm:spPr/>
      <dgm:t>
        <a:bodyPr/>
        <a:lstStyle/>
        <a:p>
          <a:endParaRPr lang="en-IN"/>
        </a:p>
      </dgm:t>
    </dgm:pt>
    <dgm:pt modelId="{051696A2-A071-40DF-A0B6-A28F74C61B6A}" type="pres">
      <dgm:prSet presAssocID="{BA032A2F-7896-4FB6-B6CA-8E9007E12522}" presName="list" presStyleCnt="0">
        <dgm:presLayoutVars>
          <dgm:dir/>
          <dgm:animLvl val="lvl"/>
        </dgm:presLayoutVars>
      </dgm:prSet>
      <dgm:spPr/>
    </dgm:pt>
    <dgm:pt modelId="{0C00CE01-37FB-4652-ACF2-2FE7BB108B47}" type="pres">
      <dgm:prSet presAssocID="{BC825A29-8334-4E41-BA2A-CFAD7E92D9FE}" presName="posSpace" presStyleCnt="0"/>
      <dgm:spPr/>
    </dgm:pt>
    <dgm:pt modelId="{F71D5DFB-02CA-484C-BE23-0EF0A65FDD1A}" type="pres">
      <dgm:prSet presAssocID="{BC825A29-8334-4E41-BA2A-CFAD7E92D9FE}" presName="vertFlow" presStyleCnt="0"/>
      <dgm:spPr/>
    </dgm:pt>
    <dgm:pt modelId="{0FA5A569-6EBF-4212-9B82-0EB0897D41F6}" type="pres">
      <dgm:prSet presAssocID="{BC825A29-8334-4E41-BA2A-CFAD7E92D9FE}" presName="topSpace" presStyleCnt="0"/>
      <dgm:spPr/>
    </dgm:pt>
    <dgm:pt modelId="{5005F853-7646-479D-A418-8E9BF06EBAC0}" type="pres">
      <dgm:prSet presAssocID="{BC825A29-8334-4E41-BA2A-CFAD7E92D9FE}" presName="firstComp" presStyleCnt="0"/>
      <dgm:spPr/>
    </dgm:pt>
    <dgm:pt modelId="{39D58CA2-8963-4161-B4D5-53E4DBC0F77E}" type="pres">
      <dgm:prSet presAssocID="{BC825A29-8334-4E41-BA2A-CFAD7E92D9FE}" presName="firstChild" presStyleLbl="bgAccFollowNode1" presStyleIdx="0" presStyleCnt="4" custScaleY="83212" custLinFactNeighborX="-16943" custLinFactNeighborY="4037"/>
      <dgm:spPr/>
    </dgm:pt>
    <dgm:pt modelId="{FFD86BD8-2EC2-4D04-9BCC-37C8F6BC9509}" type="pres">
      <dgm:prSet presAssocID="{BC825A29-8334-4E41-BA2A-CFAD7E92D9FE}" presName="firstChildTx" presStyleLbl="bgAccFollowNode1" presStyleIdx="0" presStyleCnt="4">
        <dgm:presLayoutVars>
          <dgm:bulletEnabled val="1"/>
        </dgm:presLayoutVars>
      </dgm:prSet>
      <dgm:spPr/>
    </dgm:pt>
    <dgm:pt modelId="{6BC4EE29-A56D-42C1-A454-294E2CC1DBD3}" type="pres">
      <dgm:prSet presAssocID="{AEB82C77-EF14-4E72-8D62-78DE0CF577C1}" presName="comp" presStyleCnt="0"/>
      <dgm:spPr/>
    </dgm:pt>
    <dgm:pt modelId="{9CDE9F79-2F77-4B3A-A2F3-28855B213513}" type="pres">
      <dgm:prSet presAssocID="{AEB82C77-EF14-4E72-8D62-78DE0CF577C1}" presName="child" presStyleLbl="bgAccFollowNode1" presStyleIdx="1" presStyleCnt="4" custScaleY="104272" custLinFactNeighborX="-16938" custLinFactNeighborY="2669"/>
      <dgm:spPr/>
    </dgm:pt>
    <dgm:pt modelId="{57273ED8-C076-4042-B0AA-5F1FAEA7F3B1}" type="pres">
      <dgm:prSet presAssocID="{AEB82C77-EF14-4E72-8D62-78DE0CF577C1}" presName="childTx" presStyleLbl="bgAccFollowNode1" presStyleIdx="1" presStyleCnt="4">
        <dgm:presLayoutVars>
          <dgm:bulletEnabled val="1"/>
        </dgm:presLayoutVars>
      </dgm:prSet>
      <dgm:spPr/>
    </dgm:pt>
    <dgm:pt modelId="{A8794372-E316-41DE-91AF-338D8E2D4B0D}" type="pres">
      <dgm:prSet presAssocID="{BC825A29-8334-4E41-BA2A-CFAD7E92D9FE}" presName="negSpace" presStyleCnt="0"/>
      <dgm:spPr/>
    </dgm:pt>
    <dgm:pt modelId="{A6F164DC-C549-4D66-9344-EF85835635F0}" type="pres">
      <dgm:prSet presAssocID="{BC825A29-8334-4E41-BA2A-CFAD7E92D9FE}" presName="circle" presStyleLbl="node1" presStyleIdx="0" presStyleCnt="2" custScaleX="51278" custScaleY="53462" custLinFactNeighborX="34032" custLinFactNeighborY="6126"/>
      <dgm:spPr/>
    </dgm:pt>
    <dgm:pt modelId="{B0798BBC-BE8D-46BD-B1E7-9AAC033672BA}" type="pres">
      <dgm:prSet presAssocID="{734089C5-C7BC-4872-BFCB-D6AFAB94F329}" presName="transSpace" presStyleCnt="0"/>
      <dgm:spPr/>
    </dgm:pt>
    <dgm:pt modelId="{F40776F1-E8F6-4BDC-83DA-3B7D333E19AE}" type="pres">
      <dgm:prSet presAssocID="{45BE2A5D-126C-4EC2-A807-F521EA1AF689}" presName="posSpace" presStyleCnt="0"/>
      <dgm:spPr/>
    </dgm:pt>
    <dgm:pt modelId="{5D65C73D-CD14-404F-90F1-B7F713F15F5D}" type="pres">
      <dgm:prSet presAssocID="{45BE2A5D-126C-4EC2-A807-F521EA1AF689}" presName="vertFlow" presStyleCnt="0"/>
      <dgm:spPr/>
    </dgm:pt>
    <dgm:pt modelId="{3B15A966-401A-4997-A37E-DF304406C45A}" type="pres">
      <dgm:prSet presAssocID="{45BE2A5D-126C-4EC2-A807-F521EA1AF689}" presName="topSpace" presStyleCnt="0"/>
      <dgm:spPr/>
    </dgm:pt>
    <dgm:pt modelId="{6980DE2F-9759-4B19-9D3C-CC1539A32E46}" type="pres">
      <dgm:prSet presAssocID="{45BE2A5D-126C-4EC2-A807-F521EA1AF689}" presName="firstComp" presStyleCnt="0"/>
      <dgm:spPr/>
    </dgm:pt>
    <dgm:pt modelId="{4B556FD5-E320-4644-BE87-0FF8FF23862C}" type="pres">
      <dgm:prSet presAssocID="{45BE2A5D-126C-4EC2-A807-F521EA1AF689}" presName="firstChild" presStyleLbl="bgAccFollowNode1" presStyleIdx="2" presStyleCnt="4" custScaleY="79913" custLinFactNeighborX="-36514"/>
      <dgm:spPr/>
    </dgm:pt>
    <dgm:pt modelId="{BE77EE1F-47C7-4E9A-BB7D-DA5307D1FB59}" type="pres">
      <dgm:prSet presAssocID="{45BE2A5D-126C-4EC2-A807-F521EA1AF689}" presName="firstChildTx" presStyleLbl="bgAccFollowNode1" presStyleIdx="2" presStyleCnt="4">
        <dgm:presLayoutVars>
          <dgm:bulletEnabled val="1"/>
        </dgm:presLayoutVars>
      </dgm:prSet>
      <dgm:spPr/>
    </dgm:pt>
    <dgm:pt modelId="{DFF26D18-47C8-41B6-BD2E-4E94A35249AD}" type="pres">
      <dgm:prSet presAssocID="{25C8E61B-3B1E-4EED-9F02-F6CDD03355F3}" presName="comp" presStyleCnt="0"/>
      <dgm:spPr/>
    </dgm:pt>
    <dgm:pt modelId="{742D9881-866D-4AA0-A6FE-0764152CA01F}" type="pres">
      <dgm:prSet presAssocID="{25C8E61B-3B1E-4EED-9F02-F6CDD03355F3}" presName="child" presStyleLbl="bgAccFollowNode1" presStyleIdx="3" presStyleCnt="4" custScaleY="109603" custLinFactNeighborX="-36512"/>
      <dgm:spPr/>
    </dgm:pt>
    <dgm:pt modelId="{721E4598-DBF9-4CFF-A72A-6DEC4D263F14}" type="pres">
      <dgm:prSet presAssocID="{25C8E61B-3B1E-4EED-9F02-F6CDD03355F3}" presName="childTx" presStyleLbl="bgAccFollowNode1" presStyleIdx="3" presStyleCnt="4">
        <dgm:presLayoutVars>
          <dgm:bulletEnabled val="1"/>
        </dgm:presLayoutVars>
      </dgm:prSet>
      <dgm:spPr/>
    </dgm:pt>
    <dgm:pt modelId="{3C831FFE-4D49-4FC9-9C13-A9F863708691}" type="pres">
      <dgm:prSet presAssocID="{45BE2A5D-126C-4EC2-A807-F521EA1AF689}" presName="negSpace" presStyleCnt="0"/>
      <dgm:spPr/>
    </dgm:pt>
    <dgm:pt modelId="{757DCD82-C8EC-4D70-B1CD-BA3E3220DAEA}" type="pres">
      <dgm:prSet presAssocID="{45BE2A5D-126C-4EC2-A807-F521EA1AF689}" presName="circle" presStyleLbl="node1" presStyleIdx="1" presStyleCnt="2" custScaleX="52962" custScaleY="49564" custLinFactNeighborX="10565" custLinFactNeighborY="11516"/>
      <dgm:spPr/>
    </dgm:pt>
  </dgm:ptLst>
  <dgm:cxnLst>
    <dgm:cxn modelId="{6019E706-5A13-4883-9639-C375ABFAE7B2}" type="presOf" srcId="{BC825A29-8334-4E41-BA2A-CFAD7E92D9FE}" destId="{A6F164DC-C549-4D66-9344-EF85835635F0}" srcOrd="0" destOrd="0" presId="urn:microsoft.com/office/officeart/2005/8/layout/hList9"/>
    <dgm:cxn modelId="{3FAF9217-D214-4F91-B49C-AE5916A38F5C}" type="presOf" srcId="{25C8E61B-3B1E-4EED-9F02-F6CDD03355F3}" destId="{721E4598-DBF9-4CFF-A72A-6DEC4D263F14}" srcOrd="1" destOrd="0" presId="urn:microsoft.com/office/officeart/2005/8/layout/hList9"/>
    <dgm:cxn modelId="{7E29C32D-5E99-43B0-93C7-1D7F4360DEC6}" srcId="{BA032A2F-7896-4FB6-B6CA-8E9007E12522}" destId="{BC825A29-8334-4E41-BA2A-CFAD7E92D9FE}" srcOrd="0" destOrd="0" parTransId="{8DC36585-0AFE-4399-AA60-49C700A65E00}" sibTransId="{734089C5-C7BC-4872-BFCB-D6AFAB94F329}"/>
    <dgm:cxn modelId="{4122CD46-7F6B-49AC-98D3-842F7688F627}" srcId="{BC825A29-8334-4E41-BA2A-CFAD7E92D9FE}" destId="{3FFE6126-ADBB-4251-AF07-7AE2468EE989}" srcOrd="0" destOrd="0" parTransId="{0D5BC246-F4C3-4DF2-990C-F4E2D724F7A5}" sibTransId="{A85DE5D1-B7AE-4F6D-AFD9-9C31776AAD2E}"/>
    <dgm:cxn modelId="{D2AA2277-121B-45E0-A445-3350346F482B}" type="presOf" srcId="{AEB82C77-EF14-4E72-8D62-78DE0CF577C1}" destId="{57273ED8-C076-4042-B0AA-5F1FAEA7F3B1}" srcOrd="1" destOrd="0" presId="urn:microsoft.com/office/officeart/2005/8/layout/hList9"/>
    <dgm:cxn modelId="{2BA9E257-3340-4ECB-9EE2-BC3DA8F63E64}" srcId="{BC825A29-8334-4E41-BA2A-CFAD7E92D9FE}" destId="{AEB82C77-EF14-4E72-8D62-78DE0CF577C1}" srcOrd="1" destOrd="0" parTransId="{D93BEBB5-83C9-4116-90DF-18B2B5DE99AD}" sibTransId="{BA700CE7-F1F7-495B-9327-53373CEC0AAF}"/>
    <dgm:cxn modelId="{72F3F978-7000-4BBB-BD02-356A69EBF54C}" srcId="{BA032A2F-7896-4FB6-B6CA-8E9007E12522}" destId="{45BE2A5D-126C-4EC2-A807-F521EA1AF689}" srcOrd="1" destOrd="0" parTransId="{0CDBF1DF-D960-47BF-8CC8-7F5204BCA07F}" sibTransId="{628D3A9D-F9DD-4744-A9BC-BBF95297D66E}"/>
    <dgm:cxn modelId="{FE3EC17C-F59F-48C9-B64F-48E5A67B5D3B}" type="presOf" srcId="{8D900266-E3F4-43BC-BD35-BB01026094FD}" destId="{4B556FD5-E320-4644-BE87-0FF8FF23862C}" srcOrd="0" destOrd="0" presId="urn:microsoft.com/office/officeart/2005/8/layout/hList9"/>
    <dgm:cxn modelId="{FB25817E-2B1A-4D4F-89B9-0A606573DA22}" type="presOf" srcId="{45BE2A5D-126C-4EC2-A807-F521EA1AF689}" destId="{757DCD82-C8EC-4D70-B1CD-BA3E3220DAEA}" srcOrd="0" destOrd="0" presId="urn:microsoft.com/office/officeart/2005/8/layout/hList9"/>
    <dgm:cxn modelId="{837D2E8C-8E74-4992-8797-EAAF899CD453}" srcId="{45BE2A5D-126C-4EC2-A807-F521EA1AF689}" destId="{8D900266-E3F4-43BC-BD35-BB01026094FD}" srcOrd="0" destOrd="0" parTransId="{81E7F756-3B72-40F4-A880-2569B3852613}" sibTransId="{4D177A1D-BD0A-4373-B39F-6FA3CFD8E559}"/>
    <dgm:cxn modelId="{BF84D391-747D-4DDF-A2FE-E37801F8F502}" type="presOf" srcId="{3FFE6126-ADBB-4251-AF07-7AE2468EE989}" destId="{FFD86BD8-2EC2-4D04-9BCC-37C8F6BC9509}" srcOrd="1" destOrd="0" presId="urn:microsoft.com/office/officeart/2005/8/layout/hList9"/>
    <dgm:cxn modelId="{D7F8A2A5-6D46-4A37-A4A6-DEE39920F203}" type="presOf" srcId="{3FFE6126-ADBB-4251-AF07-7AE2468EE989}" destId="{39D58CA2-8963-4161-B4D5-53E4DBC0F77E}" srcOrd="0" destOrd="0" presId="urn:microsoft.com/office/officeart/2005/8/layout/hList9"/>
    <dgm:cxn modelId="{013B5FA7-8910-4A62-A9B6-D620A3E80153}" type="presOf" srcId="{AEB82C77-EF14-4E72-8D62-78DE0CF577C1}" destId="{9CDE9F79-2F77-4B3A-A2F3-28855B213513}" srcOrd="0" destOrd="0" presId="urn:microsoft.com/office/officeart/2005/8/layout/hList9"/>
    <dgm:cxn modelId="{4DEB79B2-E400-4150-8A49-C91A25FEFF1A}" type="presOf" srcId="{8D900266-E3F4-43BC-BD35-BB01026094FD}" destId="{BE77EE1F-47C7-4E9A-BB7D-DA5307D1FB59}" srcOrd="1" destOrd="0" presId="urn:microsoft.com/office/officeart/2005/8/layout/hList9"/>
    <dgm:cxn modelId="{423119B6-63C9-4EF5-B9CE-B143C4E6FF45}" type="presOf" srcId="{25C8E61B-3B1E-4EED-9F02-F6CDD03355F3}" destId="{742D9881-866D-4AA0-A6FE-0764152CA01F}" srcOrd="0" destOrd="0" presId="urn:microsoft.com/office/officeart/2005/8/layout/hList9"/>
    <dgm:cxn modelId="{C6434BCE-565E-4381-B47F-21203814089B}" srcId="{45BE2A5D-126C-4EC2-A807-F521EA1AF689}" destId="{25C8E61B-3B1E-4EED-9F02-F6CDD03355F3}" srcOrd="1" destOrd="0" parTransId="{04C353E4-1EFC-488B-9C35-2013A7EF08A1}" sibTransId="{6FDBF4E7-51B2-4EB2-970A-758075793086}"/>
    <dgm:cxn modelId="{86E23FDE-0523-4A21-9B90-C2F411A43CFC}" type="presOf" srcId="{BA032A2F-7896-4FB6-B6CA-8E9007E12522}" destId="{051696A2-A071-40DF-A0B6-A28F74C61B6A}" srcOrd="0" destOrd="0" presId="urn:microsoft.com/office/officeart/2005/8/layout/hList9"/>
    <dgm:cxn modelId="{3EFD140A-EC08-4BFE-B32C-8AA18801D823}" type="presParOf" srcId="{051696A2-A071-40DF-A0B6-A28F74C61B6A}" destId="{0C00CE01-37FB-4652-ACF2-2FE7BB108B47}" srcOrd="0" destOrd="0" presId="urn:microsoft.com/office/officeart/2005/8/layout/hList9"/>
    <dgm:cxn modelId="{430845ED-261E-4B98-8C9F-806D888B2B9F}" type="presParOf" srcId="{051696A2-A071-40DF-A0B6-A28F74C61B6A}" destId="{F71D5DFB-02CA-484C-BE23-0EF0A65FDD1A}" srcOrd="1" destOrd="0" presId="urn:microsoft.com/office/officeart/2005/8/layout/hList9"/>
    <dgm:cxn modelId="{8709BB59-D746-4E36-9451-B5E5CCAF2A2F}" type="presParOf" srcId="{F71D5DFB-02CA-484C-BE23-0EF0A65FDD1A}" destId="{0FA5A569-6EBF-4212-9B82-0EB0897D41F6}" srcOrd="0" destOrd="0" presId="urn:microsoft.com/office/officeart/2005/8/layout/hList9"/>
    <dgm:cxn modelId="{F45E8667-332F-414F-8E48-B910EC5E8CC6}" type="presParOf" srcId="{F71D5DFB-02CA-484C-BE23-0EF0A65FDD1A}" destId="{5005F853-7646-479D-A418-8E9BF06EBAC0}" srcOrd="1" destOrd="0" presId="urn:microsoft.com/office/officeart/2005/8/layout/hList9"/>
    <dgm:cxn modelId="{196BD626-C2E0-4DD2-9809-9A72D0E46EA5}" type="presParOf" srcId="{5005F853-7646-479D-A418-8E9BF06EBAC0}" destId="{39D58CA2-8963-4161-B4D5-53E4DBC0F77E}" srcOrd="0" destOrd="0" presId="urn:microsoft.com/office/officeart/2005/8/layout/hList9"/>
    <dgm:cxn modelId="{56F353D0-70BD-47B1-B020-CB962942BCB5}" type="presParOf" srcId="{5005F853-7646-479D-A418-8E9BF06EBAC0}" destId="{FFD86BD8-2EC2-4D04-9BCC-37C8F6BC9509}" srcOrd="1" destOrd="0" presId="urn:microsoft.com/office/officeart/2005/8/layout/hList9"/>
    <dgm:cxn modelId="{FCD932C7-E03C-4FEE-888B-D09785BAADFC}" type="presParOf" srcId="{F71D5DFB-02CA-484C-BE23-0EF0A65FDD1A}" destId="{6BC4EE29-A56D-42C1-A454-294E2CC1DBD3}" srcOrd="2" destOrd="0" presId="urn:microsoft.com/office/officeart/2005/8/layout/hList9"/>
    <dgm:cxn modelId="{0054E26E-99AB-4DE0-BCF5-D995B25154CD}" type="presParOf" srcId="{6BC4EE29-A56D-42C1-A454-294E2CC1DBD3}" destId="{9CDE9F79-2F77-4B3A-A2F3-28855B213513}" srcOrd="0" destOrd="0" presId="urn:microsoft.com/office/officeart/2005/8/layout/hList9"/>
    <dgm:cxn modelId="{DA3AED07-62DF-44F7-BFE2-9E3EC7115C0A}" type="presParOf" srcId="{6BC4EE29-A56D-42C1-A454-294E2CC1DBD3}" destId="{57273ED8-C076-4042-B0AA-5F1FAEA7F3B1}" srcOrd="1" destOrd="0" presId="urn:microsoft.com/office/officeart/2005/8/layout/hList9"/>
    <dgm:cxn modelId="{74D68B5E-065B-4DA0-9230-BDC687D8F103}" type="presParOf" srcId="{051696A2-A071-40DF-A0B6-A28F74C61B6A}" destId="{A8794372-E316-41DE-91AF-338D8E2D4B0D}" srcOrd="2" destOrd="0" presId="urn:microsoft.com/office/officeart/2005/8/layout/hList9"/>
    <dgm:cxn modelId="{0BB60231-8C62-46F8-846E-05898103F8C4}" type="presParOf" srcId="{051696A2-A071-40DF-A0B6-A28F74C61B6A}" destId="{A6F164DC-C549-4D66-9344-EF85835635F0}" srcOrd="3" destOrd="0" presId="urn:microsoft.com/office/officeart/2005/8/layout/hList9"/>
    <dgm:cxn modelId="{3ECD3898-36B6-4922-9B06-37D83BA086DD}" type="presParOf" srcId="{051696A2-A071-40DF-A0B6-A28F74C61B6A}" destId="{B0798BBC-BE8D-46BD-B1E7-9AAC033672BA}" srcOrd="4" destOrd="0" presId="urn:microsoft.com/office/officeart/2005/8/layout/hList9"/>
    <dgm:cxn modelId="{F584B054-B807-43ED-8563-DD78E880A43F}" type="presParOf" srcId="{051696A2-A071-40DF-A0B6-A28F74C61B6A}" destId="{F40776F1-E8F6-4BDC-83DA-3B7D333E19AE}" srcOrd="5" destOrd="0" presId="urn:microsoft.com/office/officeart/2005/8/layout/hList9"/>
    <dgm:cxn modelId="{D7586D90-6923-4D72-8178-C474A1E12CF4}" type="presParOf" srcId="{051696A2-A071-40DF-A0B6-A28F74C61B6A}" destId="{5D65C73D-CD14-404F-90F1-B7F713F15F5D}" srcOrd="6" destOrd="0" presId="urn:microsoft.com/office/officeart/2005/8/layout/hList9"/>
    <dgm:cxn modelId="{4EC28D31-7181-4588-9A1A-C8C0A6D6978A}" type="presParOf" srcId="{5D65C73D-CD14-404F-90F1-B7F713F15F5D}" destId="{3B15A966-401A-4997-A37E-DF304406C45A}" srcOrd="0" destOrd="0" presId="urn:microsoft.com/office/officeart/2005/8/layout/hList9"/>
    <dgm:cxn modelId="{33595B3F-5EB8-4C90-97C2-0F8A376E0479}" type="presParOf" srcId="{5D65C73D-CD14-404F-90F1-B7F713F15F5D}" destId="{6980DE2F-9759-4B19-9D3C-CC1539A32E46}" srcOrd="1" destOrd="0" presId="urn:microsoft.com/office/officeart/2005/8/layout/hList9"/>
    <dgm:cxn modelId="{5EE33A50-1546-42D3-B705-F7BCBD8040EC}" type="presParOf" srcId="{6980DE2F-9759-4B19-9D3C-CC1539A32E46}" destId="{4B556FD5-E320-4644-BE87-0FF8FF23862C}" srcOrd="0" destOrd="0" presId="urn:microsoft.com/office/officeart/2005/8/layout/hList9"/>
    <dgm:cxn modelId="{418768B0-EAD0-4A8D-9985-A41A8B554551}" type="presParOf" srcId="{6980DE2F-9759-4B19-9D3C-CC1539A32E46}" destId="{BE77EE1F-47C7-4E9A-BB7D-DA5307D1FB59}" srcOrd="1" destOrd="0" presId="urn:microsoft.com/office/officeart/2005/8/layout/hList9"/>
    <dgm:cxn modelId="{308DB5E7-ADFB-426F-9893-4773A8875127}" type="presParOf" srcId="{5D65C73D-CD14-404F-90F1-B7F713F15F5D}" destId="{DFF26D18-47C8-41B6-BD2E-4E94A35249AD}" srcOrd="2" destOrd="0" presId="urn:microsoft.com/office/officeart/2005/8/layout/hList9"/>
    <dgm:cxn modelId="{6DDA779B-3690-4E5D-93CD-8E182DE4AB81}" type="presParOf" srcId="{DFF26D18-47C8-41B6-BD2E-4E94A35249AD}" destId="{742D9881-866D-4AA0-A6FE-0764152CA01F}" srcOrd="0" destOrd="0" presId="urn:microsoft.com/office/officeart/2005/8/layout/hList9"/>
    <dgm:cxn modelId="{91B88E4A-7767-4FE3-93C9-0BB67BEDC0F9}" type="presParOf" srcId="{DFF26D18-47C8-41B6-BD2E-4E94A35249AD}" destId="{721E4598-DBF9-4CFF-A72A-6DEC4D263F14}" srcOrd="1" destOrd="0" presId="urn:microsoft.com/office/officeart/2005/8/layout/hList9"/>
    <dgm:cxn modelId="{395F4B76-33DF-4148-9F50-0C2CB566536E}" type="presParOf" srcId="{051696A2-A071-40DF-A0B6-A28F74C61B6A}" destId="{3C831FFE-4D49-4FC9-9C13-A9F863708691}" srcOrd="7" destOrd="0" presId="urn:microsoft.com/office/officeart/2005/8/layout/hList9"/>
    <dgm:cxn modelId="{4A05187B-F335-479C-B9AB-58BBEDEA8A51}" type="presParOf" srcId="{051696A2-A071-40DF-A0B6-A28F74C61B6A}" destId="{757DCD82-C8EC-4D70-B1CD-BA3E3220DAEA}" srcOrd="8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2EAF44C-5511-4E88-B24C-A1111E49C401}" type="doc">
      <dgm:prSet loTypeId="urn:microsoft.com/office/officeart/2005/8/layout/hList9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4A9844F-8A4D-4352-9575-21E222261A99}">
      <dgm:prSet phldrT="[Text]" phldr="0"/>
      <dgm:spPr/>
      <dgm:t>
        <a:bodyPr/>
        <a:lstStyle/>
        <a:p>
          <a:r>
            <a:rPr lang="en-US" dirty="0"/>
            <a:t>5</a:t>
          </a:r>
          <a:r>
            <a:rPr lang="en-US" baseline="30000" dirty="0"/>
            <a:t>th</a:t>
          </a:r>
          <a:r>
            <a:rPr lang="en-US" dirty="0"/>
            <a:t> </a:t>
          </a:r>
          <a:endParaRPr lang="en-IN" dirty="0"/>
        </a:p>
      </dgm:t>
    </dgm:pt>
    <dgm:pt modelId="{1226E927-AFFF-43B7-9A6A-31D8F3FE5819}" type="parTrans" cxnId="{03C975A1-F168-4B09-AE9A-B58B441C066D}">
      <dgm:prSet/>
      <dgm:spPr/>
      <dgm:t>
        <a:bodyPr/>
        <a:lstStyle/>
        <a:p>
          <a:endParaRPr lang="en-IN"/>
        </a:p>
      </dgm:t>
    </dgm:pt>
    <dgm:pt modelId="{3DEAB8B4-0527-4513-AFD1-9B9D62320F05}" type="sibTrans" cxnId="{03C975A1-F168-4B09-AE9A-B58B441C066D}">
      <dgm:prSet/>
      <dgm:spPr/>
      <dgm:t>
        <a:bodyPr/>
        <a:lstStyle/>
        <a:p>
          <a:endParaRPr lang="en-IN"/>
        </a:p>
      </dgm:t>
    </dgm:pt>
    <dgm:pt modelId="{A33AD5E1-0662-4AD9-B35F-EB73F092EFE4}">
      <dgm:prSet phldrT="[Text]" phldr="0" custT="1"/>
      <dgm:spPr/>
      <dgm:t>
        <a:bodyPr/>
        <a:lstStyle/>
        <a:p>
          <a:pPr algn="ctr"/>
          <a:r>
            <a:rPr lang="en-US" sz="2400" dirty="0"/>
            <a:t>Data Preparation</a:t>
          </a:r>
          <a:endParaRPr lang="en-IN" sz="2400" dirty="0"/>
        </a:p>
      </dgm:t>
    </dgm:pt>
    <dgm:pt modelId="{75C8E889-3AAF-478F-A63A-1F3E0A816887}" type="parTrans" cxnId="{B7C96B24-95C1-48DE-A6B4-F04C214D710E}">
      <dgm:prSet/>
      <dgm:spPr/>
      <dgm:t>
        <a:bodyPr/>
        <a:lstStyle/>
        <a:p>
          <a:endParaRPr lang="en-IN"/>
        </a:p>
      </dgm:t>
    </dgm:pt>
    <dgm:pt modelId="{18F9C0BD-C1C4-41A7-9C2C-D2B8CD51BDAB}" type="sibTrans" cxnId="{B7C96B24-95C1-48DE-A6B4-F04C214D710E}">
      <dgm:prSet/>
      <dgm:spPr/>
      <dgm:t>
        <a:bodyPr/>
        <a:lstStyle/>
        <a:p>
          <a:endParaRPr lang="en-IN"/>
        </a:p>
      </dgm:t>
    </dgm:pt>
    <dgm:pt modelId="{86B785C7-4EE5-47F9-8221-8BC1B72174F5}">
      <dgm:prSet phldrT="[Text]"/>
      <dgm:spPr/>
      <dgm:t>
        <a:bodyPr/>
        <a:lstStyle/>
        <a:p>
          <a:pPr>
            <a:buNone/>
          </a:pPr>
          <a:r>
            <a:rPr lang="en-US" dirty="0"/>
            <a:t>Data cleaned, encoded, and preprocessed for model training</a:t>
          </a:r>
          <a:endParaRPr lang="en-IN" dirty="0"/>
        </a:p>
      </dgm:t>
    </dgm:pt>
    <dgm:pt modelId="{00CAA0F1-9339-4F2B-8EA6-540C7787CDB5}" type="parTrans" cxnId="{05205CF1-A805-494F-BCE3-4BE42E23DD54}">
      <dgm:prSet/>
      <dgm:spPr/>
      <dgm:t>
        <a:bodyPr/>
        <a:lstStyle/>
        <a:p>
          <a:endParaRPr lang="en-IN"/>
        </a:p>
      </dgm:t>
    </dgm:pt>
    <dgm:pt modelId="{A7994429-7212-4162-9228-3FE3C0F6DE60}" type="sibTrans" cxnId="{05205CF1-A805-494F-BCE3-4BE42E23DD54}">
      <dgm:prSet/>
      <dgm:spPr/>
      <dgm:t>
        <a:bodyPr/>
        <a:lstStyle/>
        <a:p>
          <a:endParaRPr lang="en-IN"/>
        </a:p>
      </dgm:t>
    </dgm:pt>
    <dgm:pt modelId="{132243E8-FF8F-454C-A230-DC3FF897D24B}" type="pres">
      <dgm:prSet presAssocID="{82EAF44C-5511-4E88-B24C-A1111E49C401}" presName="list" presStyleCnt="0">
        <dgm:presLayoutVars>
          <dgm:dir/>
          <dgm:animLvl val="lvl"/>
        </dgm:presLayoutVars>
      </dgm:prSet>
      <dgm:spPr/>
    </dgm:pt>
    <dgm:pt modelId="{7729E364-0272-4092-9534-23DB2B89D043}" type="pres">
      <dgm:prSet presAssocID="{54A9844F-8A4D-4352-9575-21E222261A99}" presName="posSpace" presStyleCnt="0"/>
      <dgm:spPr/>
    </dgm:pt>
    <dgm:pt modelId="{27AAF286-0E66-43B9-96BC-A6F6393ACB46}" type="pres">
      <dgm:prSet presAssocID="{54A9844F-8A4D-4352-9575-21E222261A99}" presName="vertFlow" presStyleCnt="0"/>
      <dgm:spPr/>
    </dgm:pt>
    <dgm:pt modelId="{1543D35D-60ED-4F44-94F5-30156C0A375B}" type="pres">
      <dgm:prSet presAssocID="{54A9844F-8A4D-4352-9575-21E222261A99}" presName="topSpace" presStyleCnt="0"/>
      <dgm:spPr/>
    </dgm:pt>
    <dgm:pt modelId="{B9F43289-3775-4E3B-ACC0-92A9941E83CE}" type="pres">
      <dgm:prSet presAssocID="{54A9844F-8A4D-4352-9575-21E222261A99}" presName="firstComp" presStyleCnt="0"/>
      <dgm:spPr/>
    </dgm:pt>
    <dgm:pt modelId="{EC9157FC-A5C2-48A8-89E3-9A877B81CD72}" type="pres">
      <dgm:prSet presAssocID="{54A9844F-8A4D-4352-9575-21E222261A99}" presName="firstChild" presStyleLbl="bgAccFollowNode1" presStyleIdx="0" presStyleCnt="2" custScaleY="58678"/>
      <dgm:spPr/>
    </dgm:pt>
    <dgm:pt modelId="{32E2D04E-AA67-4FB6-8EA3-6A9A4DC6C118}" type="pres">
      <dgm:prSet presAssocID="{54A9844F-8A4D-4352-9575-21E222261A99}" presName="firstChildTx" presStyleLbl="bgAccFollowNode1" presStyleIdx="0" presStyleCnt="2">
        <dgm:presLayoutVars>
          <dgm:bulletEnabled val="1"/>
        </dgm:presLayoutVars>
      </dgm:prSet>
      <dgm:spPr/>
    </dgm:pt>
    <dgm:pt modelId="{A7DD488D-0A72-4933-9941-3A3334199A1D}" type="pres">
      <dgm:prSet presAssocID="{86B785C7-4EE5-47F9-8221-8BC1B72174F5}" presName="comp" presStyleCnt="0"/>
      <dgm:spPr/>
    </dgm:pt>
    <dgm:pt modelId="{A32F2690-03F9-49DB-A4D9-B9A00EA3E151}" type="pres">
      <dgm:prSet presAssocID="{86B785C7-4EE5-47F9-8221-8BC1B72174F5}" presName="child" presStyleLbl="bgAccFollowNode1" presStyleIdx="1" presStyleCnt="2" custScaleY="130742"/>
      <dgm:spPr/>
    </dgm:pt>
    <dgm:pt modelId="{F6027CDB-6698-4A66-B713-0FE26A456247}" type="pres">
      <dgm:prSet presAssocID="{86B785C7-4EE5-47F9-8221-8BC1B72174F5}" presName="childTx" presStyleLbl="bgAccFollowNode1" presStyleIdx="1" presStyleCnt="2">
        <dgm:presLayoutVars>
          <dgm:bulletEnabled val="1"/>
        </dgm:presLayoutVars>
      </dgm:prSet>
      <dgm:spPr/>
    </dgm:pt>
    <dgm:pt modelId="{6166A80F-5265-4A14-8070-EEE54B0B1108}" type="pres">
      <dgm:prSet presAssocID="{54A9844F-8A4D-4352-9575-21E222261A99}" presName="negSpace" presStyleCnt="0"/>
      <dgm:spPr/>
    </dgm:pt>
    <dgm:pt modelId="{985747FD-FC76-480F-A7C1-BBFAAF739A6F}" type="pres">
      <dgm:prSet presAssocID="{54A9844F-8A4D-4352-9575-21E222261A99}" presName="circle" presStyleLbl="node1" presStyleIdx="0" presStyleCnt="1" custScaleX="53829" custScaleY="52887" custLinFactNeighborX="33787" custLinFactNeighborY="4713"/>
      <dgm:spPr/>
    </dgm:pt>
  </dgm:ptLst>
  <dgm:cxnLst>
    <dgm:cxn modelId="{44073E0C-32CE-4206-9C75-ACD14AA57A5C}" type="presOf" srcId="{54A9844F-8A4D-4352-9575-21E222261A99}" destId="{985747FD-FC76-480F-A7C1-BBFAAF739A6F}" srcOrd="0" destOrd="0" presId="urn:microsoft.com/office/officeart/2005/8/layout/hList9"/>
    <dgm:cxn modelId="{B7C96B24-95C1-48DE-A6B4-F04C214D710E}" srcId="{54A9844F-8A4D-4352-9575-21E222261A99}" destId="{A33AD5E1-0662-4AD9-B35F-EB73F092EFE4}" srcOrd="0" destOrd="0" parTransId="{75C8E889-3AAF-478F-A63A-1F3E0A816887}" sibTransId="{18F9C0BD-C1C4-41A7-9C2C-D2B8CD51BDAB}"/>
    <dgm:cxn modelId="{42676D57-FFE0-4C45-A5DC-748FAC5777B3}" type="presOf" srcId="{86B785C7-4EE5-47F9-8221-8BC1B72174F5}" destId="{F6027CDB-6698-4A66-B713-0FE26A456247}" srcOrd="1" destOrd="0" presId="urn:microsoft.com/office/officeart/2005/8/layout/hList9"/>
    <dgm:cxn modelId="{03C975A1-F168-4B09-AE9A-B58B441C066D}" srcId="{82EAF44C-5511-4E88-B24C-A1111E49C401}" destId="{54A9844F-8A4D-4352-9575-21E222261A99}" srcOrd="0" destOrd="0" parTransId="{1226E927-AFFF-43B7-9A6A-31D8F3FE5819}" sibTransId="{3DEAB8B4-0527-4513-AFD1-9B9D62320F05}"/>
    <dgm:cxn modelId="{7C3616BF-1214-44FB-A24A-FE6BBADE61E2}" type="presOf" srcId="{82EAF44C-5511-4E88-B24C-A1111E49C401}" destId="{132243E8-FF8F-454C-A230-DC3FF897D24B}" srcOrd="0" destOrd="0" presId="urn:microsoft.com/office/officeart/2005/8/layout/hList9"/>
    <dgm:cxn modelId="{EE3966C9-3489-4DB5-B165-D24B27E74503}" type="presOf" srcId="{A33AD5E1-0662-4AD9-B35F-EB73F092EFE4}" destId="{32E2D04E-AA67-4FB6-8EA3-6A9A4DC6C118}" srcOrd="1" destOrd="0" presId="urn:microsoft.com/office/officeart/2005/8/layout/hList9"/>
    <dgm:cxn modelId="{05205CF1-A805-494F-BCE3-4BE42E23DD54}" srcId="{54A9844F-8A4D-4352-9575-21E222261A99}" destId="{86B785C7-4EE5-47F9-8221-8BC1B72174F5}" srcOrd="1" destOrd="0" parTransId="{00CAA0F1-9339-4F2B-8EA6-540C7787CDB5}" sibTransId="{A7994429-7212-4162-9228-3FE3C0F6DE60}"/>
    <dgm:cxn modelId="{608DD9F3-12D5-479A-97A5-8BB8914314AC}" type="presOf" srcId="{A33AD5E1-0662-4AD9-B35F-EB73F092EFE4}" destId="{EC9157FC-A5C2-48A8-89E3-9A877B81CD72}" srcOrd="0" destOrd="0" presId="urn:microsoft.com/office/officeart/2005/8/layout/hList9"/>
    <dgm:cxn modelId="{5B9A0FFD-6ECC-4595-BD18-59AF0AB62F36}" type="presOf" srcId="{86B785C7-4EE5-47F9-8221-8BC1B72174F5}" destId="{A32F2690-03F9-49DB-A4D9-B9A00EA3E151}" srcOrd="0" destOrd="0" presId="urn:microsoft.com/office/officeart/2005/8/layout/hList9"/>
    <dgm:cxn modelId="{3340807C-6187-4A1B-A0D4-F24D5ECDB949}" type="presParOf" srcId="{132243E8-FF8F-454C-A230-DC3FF897D24B}" destId="{7729E364-0272-4092-9534-23DB2B89D043}" srcOrd="0" destOrd="0" presId="urn:microsoft.com/office/officeart/2005/8/layout/hList9"/>
    <dgm:cxn modelId="{EB35633F-226F-4F5B-8BFA-0531B7238E95}" type="presParOf" srcId="{132243E8-FF8F-454C-A230-DC3FF897D24B}" destId="{27AAF286-0E66-43B9-96BC-A6F6393ACB46}" srcOrd="1" destOrd="0" presId="urn:microsoft.com/office/officeart/2005/8/layout/hList9"/>
    <dgm:cxn modelId="{57D9D5F8-E581-4220-8F5B-4AE1E0D04D24}" type="presParOf" srcId="{27AAF286-0E66-43B9-96BC-A6F6393ACB46}" destId="{1543D35D-60ED-4F44-94F5-30156C0A375B}" srcOrd="0" destOrd="0" presId="urn:microsoft.com/office/officeart/2005/8/layout/hList9"/>
    <dgm:cxn modelId="{2BDC6A86-3601-4D53-90AC-6D7382AF3851}" type="presParOf" srcId="{27AAF286-0E66-43B9-96BC-A6F6393ACB46}" destId="{B9F43289-3775-4E3B-ACC0-92A9941E83CE}" srcOrd="1" destOrd="0" presId="urn:microsoft.com/office/officeart/2005/8/layout/hList9"/>
    <dgm:cxn modelId="{804810A0-782F-4F05-ADF3-C2DA120AC651}" type="presParOf" srcId="{B9F43289-3775-4E3B-ACC0-92A9941E83CE}" destId="{EC9157FC-A5C2-48A8-89E3-9A877B81CD72}" srcOrd="0" destOrd="0" presId="urn:microsoft.com/office/officeart/2005/8/layout/hList9"/>
    <dgm:cxn modelId="{582884AE-CFE7-4BCB-83B7-AE64042F0819}" type="presParOf" srcId="{B9F43289-3775-4E3B-ACC0-92A9941E83CE}" destId="{32E2D04E-AA67-4FB6-8EA3-6A9A4DC6C118}" srcOrd="1" destOrd="0" presId="urn:microsoft.com/office/officeart/2005/8/layout/hList9"/>
    <dgm:cxn modelId="{472DC073-A94B-41E7-8A22-92E2FA9B201B}" type="presParOf" srcId="{27AAF286-0E66-43B9-96BC-A6F6393ACB46}" destId="{A7DD488D-0A72-4933-9941-3A3334199A1D}" srcOrd="2" destOrd="0" presId="urn:microsoft.com/office/officeart/2005/8/layout/hList9"/>
    <dgm:cxn modelId="{A5B6C5F3-5342-4BAB-856C-FC4AB1BF2715}" type="presParOf" srcId="{A7DD488D-0A72-4933-9941-3A3334199A1D}" destId="{A32F2690-03F9-49DB-A4D9-B9A00EA3E151}" srcOrd="0" destOrd="0" presId="urn:microsoft.com/office/officeart/2005/8/layout/hList9"/>
    <dgm:cxn modelId="{E65DEC88-F1AA-451C-9257-72310161089E}" type="presParOf" srcId="{A7DD488D-0A72-4933-9941-3A3334199A1D}" destId="{F6027CDB-6698-4A66-B713-0FE26A456247}" srcOrd="1" destOrd="0" presId="urn:microsoft.com/office/officeart/2005/8/layout/hList9"/>
    <dgm:cxn modelId="{CC3E00BB-7C79-4332-AE96-60F5EE7D0FCC}" type="presParOf" srcId="{132243E8-FF8F-454C-A230-DC3FF897D24B}" destId="{6166A80F-5265-4A14-8070-EEE54B0B1108}" srcOrd="2" destOrd="0" presId="urn:microsoft.com/office/officeart/2005/8/layout/hList9"/>
    <dgm:cxn modelId="{1A170667-3A70-4CF7-B7E6-7B3B87F6F85C}" type="presParOf" srcId="{132243E8-FF8F-454C-A230-DC3FF897D24B}" destId="{985747FD-FC76-480F-A7C1-BBFAAF739A6F}" srcOrd="3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96FB60-E561-4D7F-8890-25A42299789A}">
      <dsp:nvSpPr>
        <dsp:cNvPr id="0" name=""/>
        <dsp:cNvSpPr/>
      </dsp:nvSpPr>
      <dsp:spPr>
        <a:xfrm>
          <a:off x="631180" y="665388"/>
          <a:ext cx="3096733" cy="97565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7584" rIns="227584" bIns="227584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Overview</a:t>
          </a:r>
          <a:endParaRPr lang="en-IN" sz="3200" kern="1200" dirty="0"/>
        </a:p>
      </dsp:txBody>
      <dsp:txXfrm>
        <a:off x="1126657" y="665388"/>
        <a:ext cx="2601255" cy="975656"/>
      </dsp:txXfrm>
    </dsp:sp>
    <dsp:sp modelId="{B38BA3D0-AABF-466A-A333-8BA6628C6C42}">
      <dsp:nvSpPr>
        <dsp:cNvPr id="0" name=""/>
        <dsp:cNvSpPr/>
      </dsp:nvSpPr>
      <dsp:spPr>
        <a:xfrm>
          <a:off x="632786" y="1641044"/>
          <a:ext cx="3093521" cy="174886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This project focuses on predicting district PGI grades (2018–2023) using machine learning models ,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It analyzes trends and evaluates model performance on the dataset</a:t>
          </a:r>
          <a:endParaRPr lang="en-IN" sz="1600" kern="1200" dirty="0"/>
        </a:p>
      </dsp:txBody>
      <dsp:txXfrm>
        <a:off x="1127749" y="1641044"/>
        <a:ext cx="2598558" cy="1748866"/>
      </dsp:txXfrm>
    </dsp:sp>
    <dsp:sp modelId="{59E93D7F-A80D-4ABA-935D-9458722CA522}">
      <dsp:nvSpPr>
        <dsp:cNvPr id="0" name=""/>
        <dsp:cNvSpPr/>
      </dsp:nvSpPr>
      <dsp:spPr>
        <a:xfrm>
          <a:off x="562184" y="114826"/>
          <a:ext cx="790482" cy="76291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1</a:t>
          </a:r>
          <a:r>
            <a:rPr lang="en-US" sz="3600" kern="1200" baseline="30000" dirty="0"/>
            <a:t>st</a:t>
          </a:r>
          <a:r>
            <a:rPr lang="en-US" sz="3600" kern="1200" dirty="0"/>
            <a:t> </a:t>
          </a:r>
          <a:endParaRPr lang="en-IN" sz="3600" kern="1200" dirty="0"/>
        </a:p>
      </dsp:txBody>
      <dsp:txXfrm>
        <a:off x="677947" y="226552"/>
        <a:ext cx="558956" cy="539461"/>
      </dsp:txXfrm>
    </dsp:sp>
    <dsp:sp modelId="{382D49A0-D202-4480-9A98-26DB90B32BF5}">
      <dsp:nvSpPr>
        <dsp:cNvPr id="0" name=""/>
        <dsp:cNvSpPr/>
      </dsp:nvSpPr>
      <dsp:spPr>
        <a:xfrm>
          <a:off x="4072717" y="665388"/>
          <a:ext cx="2768658" cy="104610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7584" rIns="227584" bIns="227584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Dataset</a:t>
          </a:r>
          <a:endParaRPr lang="en-IN" sz="3200" kern="1200" dirty="0"/>
        </a:p>
      </dsp:txBody>
      <dsp:txXfrm>
        <a:off x="4515702" y="665388"/>
        <a:ext cx="2325673" cy="1046108"/>
      </dsp:txXfrm>
    </dsp:sp>
    <dsp:sp modelId="{A338D799-A3A9-4F65-A8A2-4BEDDA27D3AA}">
      <dsp:nvSpPr>
        <dsp:cNvPr id="0" name=""/>
        <dsp:cNvSpPr/>
      </dsp:nvSpPr>
      <dsp:spPr>
        <a:xfrm>
          <a:off x="4072740" y="1711496"/>
          <a:ext cx="2768658" cy="170365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District-wise PGI data collected over </a:t>
          </a:r>
          <a:r>
            <a:rPr lang="en-US" sz="1600" b="1" kern="1200" dirty="0"/>
            <a:t>six years (2018–2023)</a:t>
          </a:r>
          <a:r>
            <a:rPr lang="en-US" sz="1600" kern="1200" dirty="0"/>
            <a:t> 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Includes multiple performance indicators</a:t>
          </a:r>
          <a:endParaRPr lang="en-IN" sz="1600" b="1" kern="1200" dirty="0"/>
        </a:p>
      </dsp:txBody>
      <dsp:txXfrm>
        <a:off x="4515726" y="1711496"/>
        <a:ext cx="2325673" cy="1703656"/>
      </dsp:txXfrm>
    </dsp:sp>
    <dsp:sp modelId="{A7E994FB-8230-497F-AD9B-866127105AC1}">
      <dsp:nvSpPr>
        <dsp:cNvPr id="0" name=""/>
        <dsp:cNvSpPr/>
      </dsp:nvSpPr>
      <dsp:spPr>
        <a:xfrm>
          <a:off x="4024327" y="129361"/>
          <a:ext cx="786312" cy="7913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2</a:t>
          </a:r>
          <a:r>
            <a:rPr lang="en-US" sz="3600" kern="1200" baseline="30000" dirty="0"/>
            <a:t>nd</a:t>
          </a:r>
          <a:r>
            <a:rPr lang="en-US" sz="3600" kern="1200" dirty="0"/>
            <a:t> </a:t>
          </a:r>
          <a:endParaRPr lang="en-IN" sz="3600" kern="1200" dirty="0"/>
        </a:p>
      </dsp:txBody>
      <dsp:txXfrm>
        <a:off x="4139480" y="245253"/>
        <a:ext cx="556006" cy="55957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D58CA2-8963-4161-B4D5-53E4DBC0F77E}">
      <dsp:nvSpPr>
        <dsp:cNvPr id="0" name=""/>
        <dsp:cNvSpPr/>
      </dsp:nvSpPr>
      <dsp:spPr>
        <a:xfrm>
          <a:off x="825182" y="999544"/>
          <a:ext cx="2260667" cy="125472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7584" rIns="227584" bIns="227584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Objective</a:t>
          </a:r>
          <a:endParaRPr lang="en-IN" sz="3200" b="1" kern="1200" dirty="0"/>
        </a:p>
      </dsp:txBody>
      <dsp:txXfrm>
        <a:off x="1186889" y="999544"/>
        <a:ext cx="1898960" cy="1254724"/>
      </dsp:txXfrm>
    </dsp:sp>
    <dsp:sp modelId="{9CDE9F79-2F77-4B3A-A2F3-28855B213513}">
      <dsp:nvSpPr>
        <dsp:cNvPr id="0" name=""/>
        <dsp:cNvSpPr/>
      </dsp:nvSpPr>
      <dsp:spPr>
        <a:xfrm>
          <a:off x="825296" y="2233642"/>
          <a:ext cx="2260667" cy="157228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To predict district </a:t>
          </a:r>
          <a:r>
            <a:rPr lang="en-US" sz="1600" b="1" kern="1200" dirty="0"/>
            <a:t>performance grades</a:t>
          </a:r>
          <a:r>
            <a:rPr lang="en-US" sz="1600" kern="1200" dirty="0"/>
            <a:t> using machine learning techniques</a:t>
          </a:r>
          <a:endParaRPr lang="en-IN" sz="1600" kern="1200" dirty="0"/>
        </a:p>
      </dsp:txBody>
      <dsp:txXfrm>
        <a:off x="1187002" y="2233642"/>
        <a:ext cx="1898960" cy="1572281"/>
      </dsp:txXfrm>
    </dsp:sp>
    <dsp:sp modelId="{A6F164DC-C549-4D66-9344-EF85835635F0}">
      <dsp:nvSpPr>
        <dsp:cNvPr id="0" name=""/>
        <dsp:cNvSpPr/>
      </dsp:nvSpPr>
      <dsp:spPr>
        <a:xfrm>
          <a:off x="771868" y="428153"/>
          <a:ext cx="772816" cy="80573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3</a:t>
          </a:r>
          <a:r>
            <a:rPr lang="en-US" sz="3700" kern="1200" baseline="30000" dirty="0"/>
            <a:t>rd</a:t>
          </a:r>
          <a:r>
            <a:rPr lang="en-US" sz="3700" kern="1200" dirty="0"/>
            <a:t> </a:t>
          </a:r>
          <a:endParaRPr lang="en-IN" sz="3700" kern="1200" dirty="0"/>
        </a:p>
      </dsp:txBody>
      <dsp:txXfrm>
        <a:off x="885044" y="546150"/>
        <a:ext cx="546464" cy="569738"/>
      </dsp:txXfrm>
    </dsp:sp>
    <dsp:sp modelId="{4B556FD5-E320-4644-BE87-0FF8FF23862C}">
      <dsp:nvSpPr>
        <dsp:cNvPr id="0" name=""/>
        <dsp:cNvSpPr/>
      </dsp:nvSpPr>
      <dsp:spPr>
        <a:xfrm>
          <a:off x="3416231" y="938672"/>
          <a:ext cx="2260667" cy="12049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0688" rIns="170688" bIns="170688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Models Used </a:t>
          </a:r>
          <a:endParaRPr lang="en-IN" sz="2400" kern="1200" dirty="0"/>
        </a:p>
      </dsp:txBody>
      <dsp:txXfrm>
        <a:off x="3777938" y="938672"/>
        <a:ext cx="1898960" cy="1204980"/>
      </dsp:txXfrm>
    </dsp:sp>
    <dsp:sp modelId="{742D9881-866D-4AA0-A6FE-0764152CA01F}">
      <dsp:nvSpPr>
        <dsp:cNvPr id="0" name=""/>
        <dsp:cNvSpPr/>
      </dsp:nvSpPr>
      <dsp:spPr>
        <a:xfrm>
          <a:off x="3416277" y="2143652"/>
          <a:ext cx="2260667" cy="165266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8016" rIns="128016" bIns="12801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Decision Tree, Random Forest, Gradient Boosting, </a:t>
          </a:r>
          <a:r>
            <a:rPr lang="en-US" sz="1800" kern="1200" dirty="0" err="1"/>
            <a:t>XGBoost</a:t>
          </a:r>
          <a:r>
            <a:rPr lang="en-US" sz="1800" kern="1200" dirty="0"/>
            <a:t>, and Stacking</a:t>
          </a:r>
          <a:endParaRPr lang="en-IN" sz="1800" kern="1200" dirty="0"/>
        </a:p>
      </dsp:txBody>
      <dsp:txXfrm>
        <a:off x="3777983" y="2143652"/>
        <a:ext cx="1898960" cy="1652665"/>
      </dsp:txXfrm>
    </dsp:sp>
    <dsp:sp modelId="{757DCD82-C8EC-4D70-B1CD-BA3E3220DAEA}">
      <dsp:nvSpPr>
        <dsp:cNvPr id="0" name=""/>
        <dsp:cNvSpPr/>
      </dsp:nvSpPr>
      <dsp:spPr>
        <a:xfrm>
          <a:off x="3402223" y="509386"/>
          <a:ext cx="798196" cy="7469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4</a:t>
          </a:r>
          <a:r>
            <a:rPr lang="en-US" sz="3700" kern="1200" baseline="30000" dirty="0"/>
            <a:t>th</a:t>
          </a:r>
          <a:r>
            <a:rPr lang="en-US" sz="3700" kern="1200" dirty="0"/>
            <a:t> </a:t>
          </a:r>
          <a:endParaRPr lang="en-IN" sz="3700" kern="1200" dirty="0"/>
        </a:p>
      </dsp:txBody>
      <dsp:txXfrm>
        <a:off x="3519116" y="618779"/>
        <a:ext cx="564410" cy="52819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9157FC-A5C2-48A8-89E3-9A877B81CD72}">
      <dsp:nvSpPr>
        <dsp:cNvPr id="0" name=""/>
        <dsp:cNvSpPr/>
      </dsp:nvSpPr>
      <dsp:spPr>
        <a:xfrm>
          <a:off x="1198769" y="686745"/>
          <a:ext cx="2246114" cy="87908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Data Preparation</a:t>
          </a:r>
          <a:endParaRPr lang="en-IN" sz="2400" kern="1200" dirty="0"/>
        </a:p>
      </dsp:txBody>
      <dsp:txXfrm>
        <a:off x="1558147" y="686745"/>
        <a:ext cx="1886736" cy="879089"/>
      </dsp:txXfrm>
    </dsp:sp>
    <dsp:sp modelId="{A32F2690-03F9-49DB-A4D9-B9A00EA3E151}">
      <dsp:nvSpPr>
        <dsp:cNvPr id="0" name=""/>
        <dsp:cNvSpPr/>
      </dsp:nvSpPr>
      <dsp:spPr>
        <a:xfrm>
          <a:off x="1198769" y="1565834"/>
          <a:ext cx="2246114" cy="195872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63576" rIns="163576" bIns="163576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Data cleaned, encoded, and preprocessed for model training</a:t>
          </a:r>
          <a:endParaRPr lang="en-IN" sz="2300" kern="1200" dirty="0"/>
        </a:p>
      </dsp:txBody>
      <dsp:txXfrm>
        <a:off x="1558147" y="1565834"/>
        <a:ext cx="1886736" cy="1958722"/>
      </dsp:txXfrm>
    </dsp:sp>
    <dsp:sp modelId="{985747FD-FC76-480F-A7C1-BBFAAF739A6F}">
      <dsp:nvSpPr>
        <dsp:cNvPr id="0" name=""/>
        <dsp:cNvSpPr/>
      </dsp:nvSpPr>
      <dsp:spPr>
        <a:xfrm>
          <a:off x="1164479" y="158354"/>
          <a:ext cx="806040" cy="79193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5</a:t>
          </a:r>
          <a:r>
            <a:rPr lang="en-US" sz="4000" kern="1200" baseline="30000" dirty="0"/>
            <a:t>th</a:t>
          </a:r>
          <a:r>
            <a:rPr lang="en-US" sz="4000" kern="1200" dirty="0"/>
            <a:t> </a:t>
          </a:r>
          <a:endParaRPr lang="en-IN" sz="4000" kern="1200" dirty="0"/>
        </a:p>
      </dsp:txBody>
      <dsp:txXfrm>
        <a:off x="1282521" y="274330"/>
        <a:ext cx="569956" cy="5599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diagramData" Target="../diagrams/data3.xml"/><Relationship Id="rId18" Type="http://schemas.openxmlformats.org/officeDocument/2006/relationships/image" Target="../media/image4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1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6" Type="http://schemas.openxmlformats.org/officeDocument/2006/relationships/diagramColors" Target="../diagrams/colors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Relationship Id="rId14" Type="http://schemas.openxmlformats.org/officeDocument/2006/relationships/diagramLayout" Target="../diagrams/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notesSlide" Target="../notesSlides/notesSlide5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19" Type="http://schemas.openxmlformats.org/officeDocument/2006/relationships/slideLayout" Target="../slideLayouts/slideLayout6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2958941"/>
            <a:ext cx="7556421" cy="12401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ea typeface="Inter Bold" pitchFamily="34" charset="-122"/>
                <a:cs typeface="+mn-lt"/>
              </a:rPr>
              <a:t>PGI (Performance Grading Index)</a:t>
            </a:r>
            <a:endParaRPr lang="en-US" sz="3900" dirty="0">
              <a:cs typeface="+mn-lt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4278392"/>
            <a:ext cx="7556421" cy="9922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ea typeface="Inter Bold" pitchFamily="34" charset="-122"/>
                <a:cs typeface="+mn-lt"/>
              </a:rPr>
              <a:t>District Score &amp; Grade Prediction (2018–2023)</a:t>
            </a:r>
            <a:endParaRPr lang="en-US" sz="3100" dirty="0">
              <a:cs typeface="+mn-lt"/>
            </a:endParaRPr>
          </a:p>
        </p:txBody>
      </p:sp>
      <p:pic>
        <p:nvPicPr>
          <p:cNvPr id="5" name="Picture 4" descr="Performance_Grading_Inde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2988" y="1735439"/>
            <a:ext cx="5849620" cy="535876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793749" y="5674995"/>
            <a:ext cx="528366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u="sng" dirty="0"/>
              <a:t>Submitted by:</a:t>
            </a:r>
          </a:p>
          <a:p>
            <a:pPr algn="just"/>
            <a:r>
              <a:rPr lang="en-US" sz="2000" dirty="0" err="1"/>
              <a:t>Ksh</a:t>
            </a:r>
            <a:r>
              <a:rPr lang="en-US" sz="2000" dirty="0"/>
              <a:t> Sandip Singha       ADTU/2022-26/BCS/028</a:t>
            </a:r>
          </a:p>
          <a:p>
            <a:r>
              <a:rPr lang="en-US" sz="2000" dirty="0"/>
              <a:t>Ph Angamba Singha    ADTU/2022-26/BCS/053</a:t>
            </a:r>
          </a:p>
          <a:p>
            <a:r>
              <a:rPr lang="en-US" sz="2000" dirty="0"/>
              <a:t>K Premila Singha 	        ADTU/2022-26/BCS/070</a:t>
            </a:r>
          </a:p>
          <a:p>
            <a:r>
              <a:rPr lang="en-US" sz="2000" dirty="0" err="1"/>
              <a:t>Meklin</a:t>
            </a:r>
            <a:r>
              <a:rPr lang="en-US" sz="2000" dirty="0"/>
              <a:t> Chakma            ADTU/2022-26/BCS(B)/006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7335450" y="5728269"/>
            <a:ext cx="270065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u="sng" dirty="0"/>
              <a:t>SUPERVISOR:</a:t>
            </a:r>
          </a:p>
          <a:p>
            <a:pPr algn="l"/>
            <a:r>
              <a:rPr lang="en-US" sz="2000" dirty="0"/>
              <a:t>Dr. Arpita Nath Boruah</a:t>
            </a:r>
          </a:p>
          <a:p>
            <a:pPr algn="l"/>
            <a:r>
              <a:rPr lang="en-US" sz="2000" dirty="0"/>
              <a:t>Assistant Professor</a:t>
            </a:r>
          </a:p>
        </p:txBody>
      </p:sp>
      <p:sp>
        <p:nvSpPr>
          <p:cNvPr id="11" name="Rectangles 10"/>
          <p:cNvSpPr/>
          <p:nvPr/>
        </p:nvSpPr>
        <p:spPr>
          <a:xfrm>
            <a:off x="12640945" y="7708900"/>
            <a:ext cx="1913255" cy="4533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516FF71-60B9-C2F0-480C-EFC393018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0825" y="781751"/>
            <a:ext cx="2714625" cy="70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21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34536" y="3482123"/>
            <a:ext cx="13593337" cy="3971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3800"/>
              </a:lnSpc>
            </a:pPr>
            <a:r>
              <a:rPr lang="en-US" b="1" dirty="0">
                <a:solidFill>
                  <a:srgbClr val="000000"/>
                </a:solidFill>
                <a:latin typeface="Bodoni MT" panose="02070603080606020203" charset="0"/>
                <a:ea typeface="Inter Bold"/>
                <a:cs typeface="Bodoni MT" panose="02070603080606020203" charset="0"/>
              </a:rPr>
              <a:t>Introduction to PGI Analysis : </a:t>
            </a:r>
            <a:endParaRPr lang="en-US" sz="1400" dirty="0">
              <a:solidFill>
                <a:srgbClr val="272525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  <a:p>
            <a:pPr>
              <a:lnSpc>
                <a:spcPts val="3800"/>
              </a:lnSpc>
            </a:pPr>
            <a:r>
              <a:rPr lang="en-US" sz="14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We focuses on predicting District Grades for 2018–23 using Machine Learning classifiers.</a:t>
            </a:r>
          </a:p>
          <a:p>
            <a:pPr>
              <a:lnSpc>
                <a:spcPts val="3800"/>
              </a:lnSpc>
            </a:pPr>
            <a:r>
              <a:rPr lang="en-US" sz="14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We will explore various models and their performance on the dataset.</a:t>
            </a:r>
            <a:endParaRPr lang="en-US" sz="1400" dirty="0"/>
          </a:p>
          <a:p>
            <a:pPr marL="0" indent="0" algn="l">
              <a:lnSpc>
                <a:spcPts val="3800"/>
              </a:lnSpc>
              <a:buNone/>
            </a:pPr>
            <a:endParaRPr lang="en-US" sz="3600" dirty="0">
              <a:latin typeface="Bodoni MT" panose="02070603080606020203" charset="0"/>
              <a:ea typeface="Inter Bold"/>
              <a:cs typeface="Bodoni MT" panose="02070603080606020203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64080" y="4288762"/>
            <a:ext cx="9192876" cy="4960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600" dirty="0"/>
          </a:p>
        </p:txBody>
      </p:sp>
      <p:sp>
        <p:nvSpPr>
          <p:cNvPr id="30" name="Rectangles 29"/>
          <p:cNvSpPr/>
          <p:nvPr/>
        </p:nvSpPr>
        <p:spPr>
          <a:xfrm>
            <a:off x="12854940" y="7747000"/>
            <a:ext cx="1661795" cy="4279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9" name="Diagram 38">
            <a:extLst>
              <a:ext uri="{FF2B5EF4-FFF2-40B4-BE49-F238E27FC236}">
                <a16:creationId xmlns:a16="http://schemas.microsoft.com/office/drawing/2014/main" id="{937B7868-6AB3-0CD7-CE96-EEA4AEBE78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0633092"/>
              </p:ext>
            </p:extLst>
          </p:nvPr>
        </p:nvGraphicFramePr>
        <p:xfrm>
          <a:off x="-271346" y="4686916"/>
          <a:ext cx="6817112" cy="35299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0" name="Diagram 39">
            <a:extLst>
              <a:ext uri="{FF2B5EF4-FFF2-40B4-BE49-F238E27FC236}">
                <a16:creationId xmlns:a16="http://schemas.microsoft.com/office/drawing/2014/main" id="{3FD690FF-6660-4154-9901-14AC875700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6029450"/>
              </p:ext>
            </p:extLst>
          </p:nvPr>
        </p:nvGraphicFramePr>
        <p:xfrm>
          <a:off x="6055112" y="4307623"/>
          <a:ext cx="6504878" cy="41321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41" name="Diagram 40">
            <a:extLst>
              <a:ext uri="{FF2B5EF4-FFF2-40B4-BE49-F238E27FC236}">
                <a16:creationId xmlns:a16="http://schemas.microsoft.com/office/drawing/2014/main" id="{F6D7AB98-2896-8588-C3D1-C337667691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0739779"/>
              </p:ext>
            </p:extLst>
          </p:nvPr>
        </p:nvGraphicFramePr>
        <p:xfrm>
          <a:off x="10837127" y="4548908"/>
          <a:ext cx="3445725" cy="36123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FC1B783-D508-9849-01CB-5F3894558F24}"/>
              </a:ext>
            </a:extLst>
          </p:cNvPr>
          <p:cNvSpPr txBox="1"/>
          <p:nvPr/>
        </p:nvSpPr>
        <p:spPr>
          <a:xfrm>
            <a:off x="334536" y="449103"/>
            <a:ext cx="744901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Bodoni MT" panose="02070603080606020203" charset="0"/>
                <a:cs typeface="Bodoni MT" panose="02070603080606020203" charset="0"/>
              </a:rPr>
              <a:t>PROBLEM STATEMENT</a:t>
            </a:r>
            <a:r>
              <a:rPr lang="en-US" b="1" dirty="0">
                <a:latin typeface="Bodoni MT" panose="02070603080606020203" charset="0"/>
                <a:cs typeface="Bodoni MT" panose="02070603080606020203" charset="0"/>
              </a:rPr>
              <a:t> :</a:t>
            </a:r>
          </a:p>
          <a:p>
            <a:endParaRPr lang="en-US" b="1" dirty="0">
              <a:latin typeface="Bodoni MT" panose="02070603080606020203" charset="0"/>
              <a:cs typeface="Bodoni MT" panose="02070603080606020203" charset="0"/>
            </a:endParaRPr>
          </a:p>
          <a:p>
            <a:r>
              <a:rPr lang="en-US" altLang="zh-CN" sz="1400" dirty="0">
                <a:latin typeface="Inter" panose="020B0604020202020204" charset="0"/>
                <a:ea typeface="Inter" panose="020B0604020202020204" charset="0"/>
                <a:sym typeface="+mn-ea"/>
              </a:rPr>
              <a:t>The Problem: A Gap in Diagnostic and Predictive Insight Current PGI evaluations are essential but often fall short of providing the necessary depth for proactive governance.</a:t>
            </a:r>
          </a:p>
          <a:p>
            <a:endParaRPr lang="en-US" altLang="zh-CN" sz="1400" dirty="0">
              <a:latin typeface="Inter" panose="020B0604020202020204" charset="0"/>
              <a:ea typeface="Inter" panose="020B0604020202020204" charset="0"/>
              <a:sym typeface="+mn-ea"/>
            </a:endParaRPr>
          </a:p>
          <a:p>
            <a:r>
              <a:rPr lang="en-US" altLang="zh-CN" sz="1400" dirty="0">
                <a:latin typeface="Inter" panose="020B0604020202020204" charset="0"/>
                <a:ea typeface="Inter" panose="020B0604020202020204" charset="0"/>
                <a:sym typeface="+mn-ea"/>
              </a:rPr>
              <a:t>We aim to close the gap between data collection and policy formulation.</a:t>
            </a:r>
          </a:p>
          <a:p>
            <a:endParaRPr lang="en-US" altLang="zh-CN" sz="1400" dirty="0">
              <a:latin typeface="Inter" panose="020B0604020202020204" charset="0"/>
              <a:ea typeface="Inter" panose="020B0604020202020204" charset="0"/>
              <a:sym typeface="+mn-ea"/>
            </a:endParaRPr>
          </a:p>
          <a:p>
            <a:endParaRPr lang="en-US" sz="1400" dirty="0">
              <a:latin typeface="Inter" panose="020B0604020202020204" charset="0"/>
              <a:ea typeface="Inter" panose="020B0604020202020204" charset="0"/>
            </a:endParaRPr>
          </a:p>
          <a:p>
            <a:endParaRPr lang="en-US" altLang="zh-CN" sz="1400" dirty="0">
              <a:latin typeface="Inter" panose="020B0604020202020204" charset="0"/>
              <a:ea typeface="Inter" panose="020B0604020202020204" charset="0"/>
              <a:sym typeface="+mn-ea"/>
            </a:endParaRPr>
          </a:p>
          <a:p>
            <a:endParaRPr lang="en-US" altLang="zh-CN" sz="1400" dirty="0">
              <a:latin typeface="Inter" panose="020B0604020202020204" charset="0"/>
              <a:ea typeface="Inter" panose="020B0604020202020204" charset="0"/>
              <a:sym typeface="+mn-ea"/>
            </a:endParaRPr>
          </a:p>
          <a:p>
            <a:endParaRPr lang="en-US" sz="1800" b="1" dirty="0">
              <a:latin typeface="Bodoni MT" panose="02070603080606020203" charset="0"/>
              <a:cs typeface="Bodoni MT" panose="02070603080606020203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B68898-2D4E-6533-E0F9-8FFEEB737303}"/>
              </a:ext>
            </a:extLst>
          </p:cNvPr>
          <p:cNvSpPr txBox="1"/>
          <p:nvPr/>
        </p:nvSpPr>
        <p:spPr>
          <a:xfrm>
            <a:off x="334536" y="2077906"/>
            <a:ext cx="744901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Inter" panose="020B0604020202020204" charset="0"/>
                <a:ea typeface="Inter" panose="020B0604020202020204" charset="0"/>
              </a:rPr>
              <a:t>Existing PGI evaluations lack predictive and diagnostic insights.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Inter" panose="020B0604020202020204" charset="0"/>
                <a:ea typeface="Inter" panose="020B0604020202020204" charset="0"/>
              </a:rPr>
              <a:t> No systematic use of AI or advanced analytics to forecast educational trends.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Inter" panose="020B0604020202020204" charset="0"/>
                <a:ea typeface="Inter" panose="020B0604020202020204" charset="0"/>
              </a:rPr>
              <a:t> Difficulty in identifying the precise drivers of educational excellence or deficiency.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Inter" panose="020B0604020202020204" charset="0"/>
                <a:ea typeface="Inter" panose="020B0604020202020204" charset="0"/>
              </a:rPr>
              <a:t> Policy responses are often reactive rather than anticipatory. </a:t>
            </a:r>
          </a:p>
        </p:txBody>
      </p:sp>
      <p:pic>
        <p:nvPicPr>
          <p:cNvPr id="8" name="Picture 7" descr="pss">
            <a:extLst>
              <a:ext uri="{FF2B5EF4-FFF2-40B4-BE49-F238E27FC236}">
                <a16:creationId xmlns:a16="http://schemas.microsoft.com/office/drawing/2014/main" id="{490C2FDD-6EAD-6802-131E-54BCB0CE6CC3}"/>
              </a:ext>
            </a:extLst>
          </p:cNvPr>
          <p:cNvPicPr>
            <a:picLocks noChangeAspect="1"/>
          </p:cNvPicPr>
          <p:nvPr/>
        </p:nvPicPr>
        <p:blipFill>
          <a:blip r:embed="rId18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604598" y="893226"/>
            <a:ext cx="2530609" cy="19257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itrev"/>
          <p:cNvPicPr>
            <a:picLocks noChangeAspect="1"/>
          </p:cNvPicPr>
          <p:nvPr/>
        </p:nvPicPr>
        <p:blipFill>
          <a:blip r:embed="rId2">
            <a:alphaModFix amt="84000"/>
          </a:blip>
          <a:srcRect l="64482" b="54809"/>
          <a:stretch>
            <a:fillRect/>
          </a:stretch>
        </p:blipFill>
        <p:spPr>
          <a:xfrm>
            <a:off x="11730355" y="431800"/>
            <a:ext cx="2694940" cy="2571750"/>
          </a:xfrm>
          <a:prstGeom prst="rect">
            <a:avLst/>
          </a:prstGeom>
          <a:solidFill>
            <a:schemeClr val="accent1">
              <a:alpha val="10000"/>
            </a:schemeClr>
          </a:solidFill>
        </p:spPr>
      </p:pic>
      <p:sp>
        <p:nvSpPr>
          <p:cNvPr id="2" name="Text Box 1"/>
          <p:cNvSpPr txBox="1"/>
          <p:nvPr/>
        </p:nvSpPr>
        <p:spPr>
          <a:xfrm>
            <a:off x="1461135" y="745490"/>
            <a:ext cx="6155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Bodoni MT" panose="02070603080606020203" charset="0"/>
                <a:cs typeface="Bodoni MT" panose="02070603080606020203" charset="0"/>
              </a:rPr>
              <a:t>LITERATURE REVIEW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543685" y="1680845"/>
            <a:ext cx="10859135" cy="54203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/>
              <a:t>The Performance Grading Index (PGI) developed by the Ministry of Education provides a structured framework to evaluate district education performance across domains such as Outcomes, Teaching Quality, Infrastructure, Safety, Digital Learning, and Governance.</a:t>
            </a:r>
          </a:p>
          <a:p>
            <a:endParaRPr lang="en-US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/>
              <a:t>Existing PGI reports focus mainly on descriptive analysis and grade comparisons, with very limited use of predictive machine-learning methods.</a:t>
            </a:r>
          </a:p>
          <a:p>
            <a:endParaRPr lang="en-US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/>
              <a:t>In education analytics, Decision Tree, Random Forest, Gradient Boosting, XGBoost, and Stacking are commonly used classifiers due to their accuracy, ability to handle mixed data, and interpretability through feature importance.</a:t>
            </a:r>
          </a:p>
          <a:p>
            <a:endParaRPr lang="en-US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/>
              <a:t>Good evaluation practices include using accuracy with confusion matrix, checking class distribution, and ensuring proper preprocessing (imputation, scaling, and encoding).</a:t>
            </a:r>
          </a:p>
          <a:p>
            <a:endParaRPr lang="en-US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/>
              <a:t>Research gap: Very few studies attempt to predict PGI Grades using ML. This project addresses that gap by comparing multiple classifiers and analyzing their performance on district-level data.</a:t>
            </a:r>
          </a:p>
        </p:txBody>
      </p:sp>
      <p:sp>
        <p:nvSpPr>
          <p:cNvPr id="11" name="Rectangles 10"/>
          <p:cNvSpPr/>
          <p:nvPr/>
        </p:nvSpPr>
        <p:spPr>
          <a:xfrm>
            <a:off x="12854940" y="7759065"/>
            <a:ext cx="1661795" cy="4279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7314" y="151430"/>
            <a:ext cx="4961811" cy="6200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Bodoni MT" panose="02070603080606020203" charset="0"/>
              </a:rPr>
              <a:t>Dataset Description</a:t>
            </a:r>
            <a:endParaRPr lang="en-US" dirty="0">
              <a:latin typeface="Inter" panose="020B0604020202020204" charset="0"/>
              <a:ea typeface="Inter" panose="020B0604020202020204" charset="0"/>
              <a:cs typeface="Bodoni MT" panose="02070603080606020203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87314" y="732969"/>
            <a:ext cx="13042821" cy="6350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Our dataset comprises approximately </a:t>
            </a:r>
            <a:r>
              <a:rPr lang="en-US" b="1" dirty="0">
                <a:latin typeface="Aptos Narrow" panose="020B0004020202020204" pitchFamily="34" charset="0"/>
                <a:ea typeface="Inter" panose="020B0604020202020204" charset="0"/>
              </a:rPr>
              <a:t>4</a:t>
            </a: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000+ rows, with 'Grade' as the primary target variable. Several feature columns contribute to the prediction model.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938753" y="2918381"/>
            <a:ext cx="13042821" cy="1727954"/>
          </a:xfrm>
          <a:prstGeom prst="roundRect">
            <a:avLst>
              <a:gd name="adj" fmla="val 482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3406" y="1601886"/>
            <a:ext cx="3507700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Total Rows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488809" y="1533812"/>
            <a:ext cx="8718709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~</a:t>
            </a:r>
            <a:r>
              <a:rPr lang="en-US" sz="2400" b="1" dirty="0">
                <a:solidFill>
                  <a:srgbClr val="272525"/>
                </a:solidFill>
                <a:latin typeface="Aptos Narrow" panose="020B00040202020202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4000</a:t>
            </a: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09335" y="2017117"/>
            <a:ext cx="3507700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Target Variable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652210" y="1953822"/>
            <a:ext cx="8718709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Grade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09335" y="2503150"/>
            <a:ext cx="3507700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Feature Columns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488809" y="2442070"/>
            <a:ext cx="8718709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Overall District Score, Outcome, ECT, IF&amp;SE, SS&amp;CP, DL, GP</a:t>
            </a:r>
            <a:endParaRPr lang="en-US" sz="1550" dirty="0"/>
          </a:p>
        </p:txBody>
      </p:sp>
      <p:cxnSp>
        <p:nvCxnSpPr>
          <p:cNvPr id="14" name="Straight Connector 13"/>
          <p:cNvCxnSpPr/>
          <p:nvPr/>
        </p:nvCxnSpPr>
        <p:spPr>
          <a:xfrm flipH="1">
            <a:off x="3872243" y="1323399"/>
            <a:ext cx="13335" cy="17049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15" name="Table 14"/>
          <p:cNvGraphicFramePr/>
          <p:nvPr>
            <p:extLst>
              <p:ext uri="{D42A27DB-BD31-4B8C-83A1-F6EECF244321}">
                <p14:modId xmlns:p14="http://schemas.microsoft.com/office/powerpoint/2010/main" val="3470533499"/>
              </p:ext>
            </p:extLst>
          </p:nvPr>
        </p:nvGraphicFramePr>
        <p:xfrm>
          <a:off x="648825" y="2918381"/>
          <a:ext cx="8829712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4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4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LABEL ENCODED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/>
                        <a:t>Akanshi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Prachesta-1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Prachesta-2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Prachesta-3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Uttam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Ati-</a:t>
                      </a:r>
                      <a:r>
                        <a:rPr lang="en-US" dirty="0" err="1"/>
                        <a:t>uttam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Rectangles 15"/>
          <p:cNvSpPr/>
          <p:nvPr/>
        </p:nvSpPr>
        <p:spPr>
          <a:xfrm>
            <a:off x="12854940" y="7747000"/>
            <a:ext cx="1661795" cy="4279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121C6F-0DFA-559A-7DFB-C7F5EFEEBAE1}"/>
              </a:ext>
            </a:extLst>
          </p:cNvPr>
          <p:cNvSpPr txBox="1"/>
          <p:nvPr/>
        </p:nvSpPr>
        <p:spPr>
          <a:xfrm>
            <a:off x="387314" y="5883360"/>
            <a:ext cx="1333274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Inter" panose="020B0604020202020204" charset="0"/>
                <a:ea typeface="Inter" panose="020B0604020202020204" charset="0"/>
              </a:rPr>
              <a:t>DATA PRPROCESSING : </a:t>
            </a:r>
          </a:p>
          <a:p>
            <a:endParaRPr lang="en-IN" dirty="0">
              <a:latin typeface="Inter" panose="020B0604020202020204" charset="0"/>
              <a:ea typeface="Inter" panose="020B0604020202020204" charset="0"/>
            </a:endParaRPr>
          </a:p>
          <a:p>
            <a:r>
              <a:rPr lang="en-US" b="1" dirty="0"/>
              <a:t>Dataset Integration</a:t>
            </a:r>
            <a:r>
              <a:rPr lang="en-US" dirty="0"/>
              <a:t>: Loaded multiple yearly datasets and merged into a single unified dataset for comprehensive analysis.</a:t>
            </a:r>
          </a:p>
          <a:p>
            <a:r>
              <a:rPr lang="en-US" b="1" dirty="0"/>
              <a:t>Encoding Resolution :</a:t>
            </a:r>
            <a:r>
              <a:rPr lang="en-US" dirty="0"/>
              <a:t>Handled encoding issues systematically using UTF-8 with latin1 fallback to ensure data integrity</a:t>
            </a:r>
            <a:endParaRPr lang="en-US" b="1" dirty="0"/>
          </a:p>
          <a:p>
            <a:r>
              <a:rPr lang="en-US" b="1" dirty="0"/>
              <a:t>Column Standardization :</a:t>
            </a:r>
            <a:r>
              <a:rPr lang="en-US" dirty="0"/>
              <a:t> Cleaned and standardized column names, renamed inconsistent columns (e.g., IF&amp;SE → IFSE), removed unnecessary fields</a:t>
            </a:r>
            <a:endParaRPr lang="en-US" b="1" dirty="0"/>
          </a:p>
          <a:p>
            <a:r>
              <a:rPr lang="en-US" b="1" dirty="0"/>
              <a:t>Feature Selection :</a:t>
            </a:r>
            <a:r>
              <a:rPr lang="en-US" dirty="0"/>
              <a:t>Selected only relevant features for modeling and added Year column for time-based analysis.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31077703"/>
              </p:ext>
            </p:extLst>
          </p:nvPr>
        </p:nvGraphicFramePr>
        <p:xfrm>
          <a:off x="892810" y="1365048"/>
          <a:ext cx="11442702" cy="5651500"/>
        </p:xfrm>
        <a:graphic>
          <a:graphicData uri="http://schemas.openxmlformats.org/drawingml/2006/table">
            <a:tbl>
              <a:tblPr/>
              <a:tblGrid>
                <a:gridCol w="2541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7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2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06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0246">
                <a:tc>
                  <a:txBody>
                    <a:bodyPr/>
                    <a:lstStyle/>
                    <a:p>
                      <a:r>
                        <a:rPr lang="en-US" altLang="zh-CN" sz="1800"/>
                        <a:t> Category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Full Form / Meaning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Max Score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Purpose / Description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6082">
                <a:tc>
                  <a:txBody>
                    <a:bodyPr/>
                    <a:lstStyle/>
                    <a:p>
                      <a:r>
                        <a:rPr lang="en-US" altLang="zh-CN" sz="1800"/>
                        <a:t> Overall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District Score 2018-2023 – Overall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–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zh-CN" sz="1800"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414">
                <a:tc>
                  <a:txBody>
                    <a:bodyPr/>
                    <a:lstStyle/>
                    <a:p>
                      <a:r>
                        <a:rPr lang="en-US" altLang="zh-CN" sz="1800"/>
                        <a:t> Category 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Outcome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290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zh-CN" sz="1800"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7635">
                <a:tc>
                  <a:txBody>
                    <a:bodyPr/>
                    <a:lstStyle/>
                    <a:p>
                      <a:r>
                        <a:rPr lang="en-US" altLang="zh-CN" sz="1800"/>
                        <a:t> Category 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ECT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90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zh-CN" sz="1800"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246">
                <a:tc>
                  <a:txBody>
                    <a:bodyPr/>
                    <a:lstStyle/>
                    <a:p>
                      <a:r>
                        <a:rPr lang="en-US" altLang="zh-CN" sz="1800"/>
                        <a:t> Category 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IF&amp;SE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51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zh-CN" sz="1800"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449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 Category 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SS&amp;CP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35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zh-CN" sz="1800"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94141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 Category 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DL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50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zh-CN" sz="1800"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0246">
                <a:tc>
                  <a:txBody>
                    <a:bodyPr/>
                    <a:lstStyle/>
                    <a:p>
                      <a:r>
                        <a:rPr lang="en-US" altLang="zh-CN" sz="1800"/>
                        <a:t> Category 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GP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84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zh-CN" sz="1800"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3" name="Straight Connector 2"/>
          <p:cNvCxnSpPr>
            <a:cxnSpLocks/>
          </p:cNvCxnSpPr>
          <p:nvPr/>
        </p:nvCxnSpPr>
        <p:spPr>
          <a:xfrm>
            <a:off x="873760" y="1352348"/>
            <a:ext cx="8890" cy="5664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883920" y="1342188"/>
            <a:ext cx="12579350" cy="20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13463270" y="1362508"/>
            <a:ext cx="8890" cy="56540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873760" y="7005118"/>
            <a:ext cx="12589510" cy="114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2936240" y="1335838"/>
            <a:ext cx="20320" cy="56807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030720" y="1366318"/>
            <a:ext cx="0" cy="5638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235440" y="1366318"/>
            <a:ext cx="10160" cy="56502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873760" y="1772718"/>
            <a:ext cx="12589510" cy="304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Text Box 15"/>
          <p:cNvSpPr txBox="1"/>
          <p:nvPr/>
        </p:nvSpPr>
        <p:spPr>
          <a:xfrm>
            <a:off x="100330" y="115024"/>
            <a:ext cx="7068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600" b="1" dirty="0">
                <a:latin typeface="Bodoni MT" panose="02070603080606020203" charset="0"/>
                <a:cs typeface="Bodoni MT" panose="02070603080606020203" charset="0"/>
              </a:rPr>
              <a:t>Category Score Description Table</a:t>
            </a:r>
            <a:endParaRPr lang="en-US" sz="3600" b="1" dirty="0">
              <a:latin typeface="Bodoni MT" panose="02070603080606020203" charset="0"/>
              <a:cs typeface="Bodoni MT" panose="02070603080606020203" charset="0"/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12854940" y="7747000"/>
            <a:ext cx="1661795" cy="4279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213E59-FDEF-DA44-72C2-65CF175DD7BF}"/>
              </a:ext>
            </a:extLst>
          </p:cNvPr>
          <p:cNvSpPr txBox="1"/>
          <p:nvPr/>
        </p:nvSpPr>
        <p:spPr>
          <a:xfrm>
            <a:off x="9679449" y="1820806"/>
            <a:ext cx="3634451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Total performance score of the district combining all categories.</a:t>
            </a:r>
          </a:p>
          <a:p>
            <a:endParaRPr lang="en-US" altLang="zh-CN" sz="1600" dirty="0"/>
          </a:p>
          <a:p>
            <a:r>
              <a:rPr lang="en-US" altLang="zh-CN" sz="1600" dirty="0"/>
              <a:t>Measures achievement of key targets/results in the district.</a:t>
            </a:r>
          </a:p>
          <a:p>
            <a:endParaRPr lang="en-US" altLang="zh-CN" sz="1600" dirty="0"/>
          </a:p>
          <a:p>
            <a:r>
              <a:rPr lang="en-US" altLang="zh-CN" sz="1600" dirty="0"/>
              <a:t>Evaluates effectiveness/</a:t>
            </a:r>
          </a:p>
          <a:p>
            <a:r>
              <a:rPr lang="en-US" altLang="zh-CN" sz="1600" dirty="0"/>
              <a:t>compliance/teaching quality (specific area of performance).</a:t>
            </a:r>
          </a:p>
          <a:p>
            <a:pPr fontAlgn="ctr"/>
            <a:endParaRPr lang="en-US" sz="1600" dirty="0"/>
          </a:p>
          <a:p>
            <a:pPr fontAlgn="ctr"/>
            <a:r>
              <a:rPr lang="en-US" sz="1600" dirty="0"/>
              <a:t>Assesses Infrastructure Facilities &amp; School Environment.</a:t>
            </a:r>
            <a:endParaRPr lang="en-IN" sz="1600" dirty="0"/>
          </a:p>
          <a:p>
            <a:pPr fontAlgn="ctr"/>
            <a:endParaRPr lang="en-US" sz="1600" dirty="0"/>
          </a:p>
          <a:p>
            <a:pPr fontAlgn="ctr"/>
            <a:r>
              <a:rPr lang="en-US" sz="1600" dirty="0"/>
              <a:t>Measures Student Support &amp; Community Participation initiatives.</a:t>
            </a:r>
          </a:p>
          <a:p>
            <a:pPr fontAlgn="ctr"/>
            <a:endParaRPr lang="en-US" altLang="zh-CN" sz="1600" dirty="0"/>
          </a:p>
          <a:p>
            <a:pPr fontAlgn="ctr"/>
            <a:r>
              <a:rPr lang="en-US" altLang="zh-CN" sz="1600" dirty="0"/>
              <a:t>Evaluates Digital Learning or Distance Learning initiatives</a:t>
            </a:r>
          </a:p>
          <a:p>
            <a:pPr fontAlgn="ctr"/>
            <a:endParaRPr lang="en-US" altLang="zh-CN" sz="1600" dirty="0"/>
          </a:p>
          <a:p>
            <a:pPr fontAlgn="ctr"/>
            <a:r>
              <a:rPr lang="en-US" altLang="zh-CN" sz="1600" dirty="0"/>
              <a:t>Measures Governance &amp; Planning quality in the district.</a:t>
            </a:r>
          </a:p>
          <a:p>
            <a:pPr fontAlgn="ctr"/>
            <a:endParaRPr lang="en-I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4A1958-F432-A7C2-0F92-8A1E9BCB9D9A}"/>
              </a:ext>
            </a:extLst>
          </p:cNvPr>
          <p:cNvSpPr txBox="1"/>
          <p:nvPr/>
        </p:nvSpPr>
        <p:spPr>
          <a:xfrm>
            <a:off x="1138083" y="7220883"/>
            <a:ext cx="90882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Insight:</a:t>
            </a:r>
            <a:endParaRPr lang="en-US" sz="2000" dirty="0"/>
          </a:p>
          <a:p>
            <a:r>
              <a:rPr lang="en-US" dirty="0"/>
              <a:t>Encoding ensures machine learning models can process categorical data effectively.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2555240" y="537845"/>
            <a:ext cx="81387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u="sng" dirty="0">
                <a:latin typeface="Bodoni MT" panose="02070603080606020203" charset="0"/>
                <a:cs typeface="Bodoni MT" panose="02070603080606020203" charset="0"/>
              </a:rPr>
              <a:t>Model Accuracy </a:t>
            </a:r>
            <a:r>
              <a:rPr lang="en-US" sz="4400" u="sng" dirty="0" err="1">
                <a:latin typeface="Bodoni MT" panose="02070603080606020203" charset="0"/>
                <a:cs typeface="Bodoni MT" panose="02070603080606020203" charset="0"/>
              </a:rPr>
              <a:t>Comparision</a:t>
            </a:r>
            <a:r>
              <a:rPr lang="en-US" sz="4400" u="sng" dirty="0">
                <a:latin typeface="Bodoni MT" panose="02070603080606020203" charset="0"/>
                <a:cs typeface="Bodoni MT" panose="02070603080606020203" charset="0"/>
              </a:rPr>
              <a:t> 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2148190" y="6392999"/>
            <a:ext cx="4531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u="sng" dirty="0"/>
              <a:t>Fig:2018-23</a:t>
            </a:r>
          </a:p>
        </p:txBody>
      </p:sp>
      <p:sp>
        <p:nvSpPr>
          <p:cNvPr id="11" name="Rectangles 10"/>
          <p:cNvSpPr/>
          <p:nvPr/>
        </p:nvSpPr>
        <p:spPr>
          <a:xfrm>
            <a:off x="12854940" y="7747000"/>
            <a:ext cx="1661795" cy="4279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95CB88-0BD8-61C6-B94A-9265DF93A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490" y="1535207"/>
            <a:ext cx="6482760" cy="45199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776BE13-B13C-8225-B680-2F0C7D411C0F}"/>
              </a:ext>
            </a:extLst>
          </p:cNvPr>
          <p:cNvSpPr txBox="1"/>
          <p:nvPr/>
        </p:nvSpPr>
        <p:spPr>
          <a:xfrm>
            <a:off x="8079059" y="1873405"/>
            <a:ext cx="522992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Key Insights:</a:t>
            </a:r>
          </a:p>
          <a:p>
            <a:endParaRPr lang="en-US" b="1" dirty="0"/>
          </a:p>
          <a:p>
            <a:r>
              <a:rPr lang="en-US" b="1" dirty="0"/>
              <a:t>*Best Performance:</a:t>
            </a:r>
            <a:r>
              <a:rPr lang="en-US" dirty="0"/>
              <a:t> </a:t>
            </a:r>
            <a:r>
              <a:rPr lang="en-US" i="1" dirty="0"/>
              <a:t>Random Forest</a:t>
            </a:r>
            <a:r>
              <a:rPr lang="en-US" dirty="0"/>
              <a:t> and </a:t>
            </a:r>
            <a:r>
              <a:rPr lang="en-US" i="1" dirty="0"/>
              <a:t>Stacking</a:t>
            </a:r>
            <a:r>
              <a:rPr lang="en-US" dirty="0"/>
              <a:t> achieved the highest accuracy (</a:t>
            </a:r>
            <a:r>
              <a:rPr lang="en-US" b="1" dirty="0"/>
              <a:t>79%</a:t>
            </a:r>
            <a:r>
              <a:rPr lang="en-US" dirty="0"/>
              <a:t>) </a:t>
            </a:r>
          </a:p>
          <a:p>
            <a:r>
              <a:rPr lang="en-US" b="1" dirty="0"/>
              <a:t>*</a:t>
            </a:r>
            <a:r>
              <a:rPr lang="en-US" b="1" dirty="0" err="1"/>
              <a:t>XGBoost</a:t>
            </a:r>
            <a:r>
              <a:rPr lang="en-US" dirty="0"/>
              <a:t> also performed very well (</a:t>
            </a:r>
            <a:r>
              <a:rPr lang="en-US" b="1" dirty="0"/>
              <a:t>78%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→ Shows strong predictive capability </a:t>
            </a:r>
          </a:p>
          <a:p>
            <a:r>
              <a:rPr lang="en-US" b="1" dirty="0"/>
              <a:t>*Decision Tree</a:t>
            </a:r>
            <a:r>
              <a:rPr lang="en-US" dirty="0"/>
              <a:t> had the lowest accuracy (</a:t>
            </a:r>
            <a:r>
              <a:rPr lang="en-US" b="1" dirty="0"/>
              <a:t>71%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→ Indicates it may not capture complex patterns effectively </a:t>
            </a:r>
          </a:p>
          <a:p>
            <a:r>
              <a:rPr lang="en-US" dirty="0"/>
              <a:t>*</a:t>
            </a:r>
            <a:r>
              <a:rPr lang="en-US" b="1" dirty="0"/>
              <a:t>Ensemble Methods (RF, GB, </a:t>
            </a:r>
            <a:r>
              <a:rPr lang="en-US" b="1" dirty="0" err="1"/>
              <a:t>XGBoost</a:t>
            </a:r>
            <a:r>
              <a:rPr lang="en-US" b="1" dirty="0"/>
              <a:t>, Stacking)</a:t>
            </a:r>
            <a:r>
              <a:rPr lang="en-US" dirty="0"/>
              <a:t> performed better than a single model</a:t>
            </a:r>
            <a:br>
              <a:rPr lang="en-US" dirty="0"/>
            </a:br>
            <a:r>
              <a:rPr lang="en-US" dirty="0"/>
              <a:t>→ Combining models improves accuracy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15374" y="707080"/>
            <a:ext cx="7082314" cy="6200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Correlation Heatmap Insights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15374" y="1446396"/>
            <a:ext cx="7556421" cy="9526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The correlation heatmap reveals strong relationships between certain features and the target variable, 'Grade'. This is crucial for understanding feature importance in our predictive models.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570770" y="2521894"/>
            <a:ext cx="7556421" cy="9526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lang="en-US" b="1" dirty="0"/>
              <a:t>Key Insight: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The model performs well overall with a high number of correct predictions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Errors mainly occur between similar or neighboring grades </a:t>
            </a:r>
          </a:p>
        </p:txBody>
      </p:sp>
      <p:sp>
        <p:nvSpPr>
          <p:cNvPr id="6" name="Rectangles 21">
            <a:extLst>
              <a:ext uri="{FF2B5EF4-FFF2-40B4-BE49-F238E27FC236}">
                <a16:creationId xmlns:a16="http://schemas.microsoft.com/office/drawing/2014/main" id="{C822803B-0876-B69D-0BAE-9F0592FF622C}"/>
              </a:ext>
            </a:extLst>
          </p:cNvPr>
          <p:cNvSpPr/>
          <p:nvPr/>
        </p:nvSpPr>
        <p:spPr>
          <a:xfrm>
            <a:off x="12854940" y="7747000"/>
            <a:ext cx="1661795" cy="4279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2AB29D-55A0-A152-3154-39F1EBF9CE03}"/>
              </a:ext>
            </a:extLst>
          </p:cNvPr>
          <p:cNvSpPr txBox="1"/>
          <p:nvPr/>
        </p:nvSpPr>
        <p:spPr>
          <a:xfrm>
            <a:off x="498931" y="3824534"/>
            <a:ext cx="73152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🔹 What it Shows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The confusion matrix compares actual vs predicted grades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Diagonal values represent correct predictions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Off-diagonal values represent misclassifications </a:t>
            </a:r>
          </a:p>
          <a:p>
            <a:pPr>
              <a:buNone/>
            </a:pPr>
            <a:br>
              <a:rPr lang="en-US" b="1" dirty="0"/>
            </a:br>
            <a:endParaRPr lang="en-US" b="1" dirty="0"/>
          </a:p>
          <a:p>
            <a:pPr>
              <a:buNone/>
            </a:pPr>
            <a:r>
              <a:rPr lang="en-US" b="1" dirty="0"/>
              <a:t>🔹 Key Observations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High values on the diagonal (e.g., 99, 104, 45, 27) indicate good model accuracy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Most predictions are correctly classified into their respective grades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Some confusion exists between nearby grades (e.g., grade 0 &amp; 1, 1 &amp; 2) </a:t>
            </a:r>
          </a:p>
          <a:p>
            <a:pPr>
              <a:buNone/>
            </a:pPr>
            <a:br>
              <a:rPr lang="en-US" b="1" dirty="0"/>
            </a:br>
            <a:endParaRPr lang="en-US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1FBD96-DB72-D5E0-DCBC-3DFDCB74A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1795" y="1567544"/>
            <a:ext cx="5920460" cy="504694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208BE29-F464-7F7E-CBF4-898ACA9AAE83}"/>
              </a:ext>
            </a:extLst>
          </p:cNvPr>
          <p:cNvSpPr txBox="1"/>
          <p:nvPr/>
        </p:nvSpPr>
        <p:spPr>
          <a:xfrm>
            <a:off x="7580677" y="6828890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1" u="sng" dirty="0"/>
              <a:t>Fig: Heatmaps of the year 2018-23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1679261" y="7030460"/>
            <a:ext cx="5120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Fig: Model accuracy of 2018-23</a:t>
            </a:r>
          </a:p>
        </p:txBody>
      </p:sp>
      <p:sp>
        <p:nvSpPr>
          <p:cNvPr id="11" name="Rectangles 10"/>
          <p:cNvSpPr/>
          <p:nvPr/>
        </p:nvSpPr>
        <p:spPr>
          <a:xfrm>
            <a:off x="12854940" y="7747000"/>
            <a:ext cx="1661795" cy="4279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6DD5DF-7D86-9066-9CE6-2CBA92B5F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274" y="1360448"/>
            <a:ext cx="6506173" cy="51518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6368882-7ED2-041C-4228-599FD73A0774}"/>
              </a:ext>
            </a:extLst>
          </p:cNvPr>
          <p:cNvSpPr txBox="1"/>
          <p:nvPr/>
        </p:nvSpPr>
        <p:spPr>
          <a:xfrm>
            <a:off x="1215485" y="495559"/>
            <a:ext cx="7315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u="sng" dirty="0">
                <a:latin typeface="Inter Bold"/>
                <a:cs typeface="Bodoni MT" panose="02070603080606020203" charset="0"/>
              </a:rPr>
              <a:t>Model Improvement Comparison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FC20AA-7B9D-3179-225C-5F34DD16694B}"/>
              </a:ext>
            </a:extLst>
          </p:cNvPr>
          <p:cNvSpPr txBox="1"/>
          <p:nvPr/>
        </p:nvSpPr>
        <p:spPr>
          <a:xfrm>
            <a:off x="7955389" y="2122045"/>
            <a:ext cx="4683513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Model Improvement Insights: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Random Guess accuracy is very low (</a:t>
            </a:r>
            <a:r>
              <a:rPr lang="en-US" b="1" dirty="0"/>
              <a:t>17%</a:t>
            </a:r>
            <a:r>
              <a:rPr lang="en-US" dirty="0"/>
              <a:t>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Basic model improves accuracy to </a:t>
            </a:r>
            <a:r>
              <a:rPr lang="en-US" b="1" dirty="0"/>
              <a:t>25%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Final model achieves high accuracy (</a:t>
            </a:r>
            <a:r>
              <a:rPr lang="en-US" b="1" dirty="0"/>
              <a:t>79%</a:t>
            </a:r>
            <a:r>
              <a:rPr lang="en-US" dirty="0"/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B4EF33-F07C-C0A4-0486-46B0F4AC9A45}"/>
              </a:ext>
            </a:extLst>
          </p:cNvPr>
          <p:cNvSpPr txBox="1"/>
          <p:nvPr/>
        </p:nvSpPr>
        <p:spPr>
          <a:xfrm>
            <a:off x="7844319" y="4116802"/>
            <a:ext cx="6506173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Key sight:</a:t>
            </a:r>
          </a:p>
          <a:p>
            <a:br>
              <a:rPr lang="en-US" dirty="0"/>
            </a:br>
            <a:r>
              <a:rPr lang="en-US" dirty="0"/>
              <a:t>Initially, the model performs poorly when guessing randomly. As we introduce basic learning, accuracy improves slightly. Finally, with proper data processing and advanced models, accuracy increases significantly to 79%, showing the effectiveness of our approach.</a:t>
            </a: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8107" y="143661"/>
            <a:ext cx="6402824" cy="6200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Machine Learning Pipeline</a:t>
            </a:r>
          </a:p>
        </p:txBody>
      </p:sp>
      <p:sp>
        <p:nvSpPr>
          <p:cNvPr id="3" name="Text 1"/>
          <p:cNvSpPr/>
          <p:nvPr/>
        </p:nvSpPr>
        <p:spPr>
          <a:xfrm>
            <a:off x="448107" y="781433"/>
            <a:ext cx="13042821" cy="6350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Our machine learning pipeline involves several critical steps to prepare the data and ensure robust model training. Each step is designed to handle data imperfections and optimise model performance.</a:t>
            </a:r>
            <a:endParaRPr lang="en-US" sz="1400" dirty="0"/>
          </a:p>
        </p:txBody>
      </p:sp>
      <p:sp>
        <p:nvSpPr>
          <p:cNvPr id="4" name="Text 2"/>
          <p:cNvSpPr/>
          <p:nvPr>
            <p:custDataLst>
              <p:tags r:id="rId1"/>
            </p:custDataLst>
          </p:nvPr>
        </p:nvSpPr>
        <p:spPr>
          <a:xfrm>
            <a:off x="497132" y="1809520"/>
            <a:ext cx="198358" cy="2480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Calibri" panose="020F0502020204030204" charset="0"/>
                <a:ea typeface="Inter Light" pitchFamily="34" charset="-122"/>
                <a:cs typeface="Calibri" panose="020F0502020204030204" charset="0"/>
              </a:rPr>
              <a:t>01</a:t>
            </a:r>
            <a:endParaRPr lang="en-US" sz="155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Text 4"/>
          <p:cNvSpPr/>
          <p:nvPr>
            <p:custDataLst>
              <p:tags r:id="rId2"/>
            </p:custDataLst>
          </p:nvPr>
        </p:nvSpPr>
        <p:spPr>
          <a:xfrm>
            <a:off x="760339" y="1820198"/>
            <a:ext cx="2480905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b="1" dirty="0">
                <a:solidFill>
                  <a:srgbClr val="272525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Median Imputation:</a:t>
            </a:r>
            <a:endParaRPr 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760339" y="2115607"/>
            <a:ext cx="6422231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Handling missing values by replacing them with the median.</a:t>
            </a:r>
            <a:endParaRPr lang="en-US" sz="1400" dirty="0"/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7083391" y="1809519"/>
            <a:ext cx="198358" cy="2480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Calibri" panose="020F0502020204030204" charset="0"/>
                <a:ea typeface="Inter Light" pitchFamily="34" charset="-122"/>
                <a:cs typeface="Calibri" panose="020F0502020204030204" charset="0"/>
              </a:rPr>
              <a:t>02</a:t>
            </a:r>
            <a:endParaRPr lang="en-US" sz="155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" name="Text 8"/>
          <p:cNvSpPr/>
          <p:nvPr>
            <p:custDataLst>
              <p:tags r:id="rId5"/>
            </p:custDataLst>
          </p:nvPr>
        </p:nvSpPr>
        <p:spPr>
          <a:xfrm>
            <a:off x="7380928" y="1820198"/>
            <a:ext cx="2480905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b="1" dirty="0">
                <a:solidFill>
                  <a:srgbClr val="272525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Standard Scaling:</a:t>
            </a:r>
            <a:endParaRPr 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7380928" y="2093305"/>
            <a:ext cx="6422231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Normalising feature scales to prevent dominance by larger values.</a:t>
            </a:r>
            <a:endParaRPr lang="en-US" sz="1400" dirty="0"/>
          </a:p>
        </p:txBody>
      </p:sp>
      <p:sp>
        <p:nvSpPr>
          <p:cNvPr id="12" name="Text 10"/>
          <p:cNvSpPr/>
          <p:nvPr>
            <p:custDataLst>
              <p:tags r:id="rId7"/>
            </p:custDataLst>
          </p:nvPr>
        </p:nvSpPr>
        <p:spPr>
          <a:xfrm>
            <a:off x="497132" y="2551814"/>
            <a:ext cx="198358" cy="2480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Calibri" panose="020F0502020204030204" charset="0"/>
                <a:ea typeface="Inter Light" pitchFamily="34" charset="-122"/>
                <a:cs typeface="Calibri" panose="020F0502020204030204" charset="0"/>
              </a:rPr>
              <a:t>03</a:t>
            </a:r>
            <a:endParaRPr lang="en-US" sz="155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4" name="Text 12"/>
          <p:cNvSpPr/>
          <p:nvPr>
            <p:custDataLst>
              <p:tags r:id="rId8"/>
            </p:custDataLst>
          </p:nvPr>
        </p:nvSpPr>
        <p:spPr>
          <a:xfrm>
            <a:off x="760339" y="2570488"/>
            <a:ext cx="2506385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b="1" dirty="0">
                <a:solidFill>
                  <a:srgbClr val="272525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Column Transformer:</a:t>
            </a:r>
            <a:endParaRPr 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5" name="Text 13"/>
          <p:cNvSpPr/>
          <p:nvPr>
            <p:custDataLst>
              <p:tags r:id="rId9"/>
            </p:custDataLst>
          </p:nvPr>
        </p:nvSpPr>
        <p:spPr>
          <a:xfrm>
            <a:off x="760339" y="2832443"/>
            <a:ext cx="6422231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Applying different transformations to different columns.</a:t>
            </a:r>
            <a:endParaRPr lang="en-US" sz="1400" dirty="0"/>
          </a:p>
        </p:txBody>
      </p:sp>
      <p:sp>
        <p:nvSpPr>
          <p:cNvPr id="16" name="Text 14"/>
          <p:cNvSpPr/>
          <p:nvPr>
            <p:custDataLst>
              <p:tags r:id="rId10"/>
            </p:custDataLst>
          </p:nvPr>
        </p:nvSpPr>
        <p:spPr>
          <a:xfrm>
            <a:off x="7083391" y="2574144"/>
            <a:ext cx="198358" cy="2480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Calibri" panose="020F0502020204030204" charset="0"/>
                <a:ea typeface="Inter Light" pitchFamily="34" charset="-122"/>
                <a:cs typeface="Calibri" panose="020F0502020204030204" charset="0"/>
              </a:rPr>
              <a:t>04</a:t>
            </a:r>
            <a:endParaRPr lang="en-US" sz="155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8" name="Text 16"/>
          <p:cNvSpPr/>
          <p:nvPr>
            <p:custDataLst>
              <p:tags r:id="rId11"/>
            </p:custDataLst>
          </p:nvPr>
        </p:nvSpPr>
        <p:spPr>
          <a:xfrm>
            <a:off x="7380928" y="2570488"/>
            <a:ext cx="2480905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b="1" dirty="0">
                <a:solidFill>
                  <a:srgbClr val="272525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Label Encoding:</a:t>
            </a:r>
            <a:endParaRPr 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9" name="Text 17"/>
          <p:cNvSpPr/>
          <p:nvPr>
            <p:custDataLst>
              <p:tags r:id="rId12"/>
            </p:custDataLst>
          </p:nvPr>
        </p:nvSpPr>
        <p:spPr>
          <a:xfrm>
            <a:off x="7380928" y="2798990"/>
            <a:ext cx="6422231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Converting categorical labels into numerical format.</a:t>
            </a:r>
            <a:endParaRPr lang="en-US" sz="1400" dirty="0"/>
          </a:p>
        </p:txBody>
      </p:sp>
      <p:sp>
        <p:nvSpPr>
          <p:cNvPr id="20" name="Text 18"/>
          <p:cNvSpPr/>
          <p:nvPr>
            <p:custDataLst>
              <p:tags r:id="rId13"/>
            </p:custDataLst>
          </p:nvPr>
        </p:nvSpPr>
        <p:spPr>
          <a:xfrm>
            <a:off x="497132" y="3320769"/>
            <a:ext cx="198358" cy="2480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Calibri" panose="020F0502020204030204" charset="0"/>
                <a:ea typeface="Inter Light" pitchFamily="34" charset="-122"/>
                <a:cs typeface="Calibri" panose="020F0502020204030204" charset="0"/>
              </a:rPr>
              <a:t>05</a:t>
            </a:r>
            <a:endParaRPr lang="en-US" sz="155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2" name="Text 20"/>
          <p:cNvSpPr/>
          <p:nvPr>
            <p:custDataLst>
              <p:tags r:id="rId14"/>
            </p:custDataLst>
          </p:nvPr>
        </p:nvSpPr>
        <p:spPr>
          <a:xfrm>
            <a:off x="760339" y="3320769"/>
            <a:ext cx="2480905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Train-</a:t>
            </a:r>
            <a:r>
              <a:rPr lang="en-US" b="1" dirty="0">
                <a:solidFill>
                  <a:srgbClr val="272525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Test </a:t>
            </a:r>
            <a:r>
              <a:rPr lang="en-US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Split</a:t>
            </a:r>
            <a:endParaRPr lang="en-US" dirty="0"/>
          </a:p>
        </p:txBody>
      </p:sp>
      <p:sp>
        <p:nvSpPr>
          <p:cNvPr id="23" name="Text 21"/>
          <p:cNvSpPr/>
          <p:nvPr>
            <p:custDataLst>
              <p:tags r:id="rId15"/>
            </p:custDataLst>
          </p:nvPr>
        </p:nvSpPr>
        <p:spPr>
          <a:xfrm>
            <a:off x="760339" y="3560422"/>
            <a:ext cx="6422231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Dividing data into 80% for training and 20% for testing.</a:t>
            </a:r>
            <a:endParaRPr lang="en-US" sz="1400" dirty="0"/>
          </a:p>
        </p:txBody>
      </p:sp>
      <p:sp>
        <p:nvSpPr>
          <p:cNvPr id="24" name="Text 22"/>
          <p:cNvSpPr/>
          <p:nvPr>
            <p:custDataLst>
              <p:tags r:id="rId16"/>
            </p:custDataLst>
          </p:nvPr>
        </p:nvSpPr>
        <p:spPr>
          <a:xfrm>
            <a:off x="7135606" y="3320769"/>
            <a:ext cx="198358" cy="2480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Calibri" panose="020F0502020204030204" charset="0"/>
                <a:ea typeface="Inter Light" pitchFamily="34" charset="-122"/>
                <a:cs typeface="Calibri" panose="020F0502020204030204" charset="0"/>
              </a:rPr>
              <a:t>06</a:t>
            </a:r>
            <a:endParaRPr lang="en-US" sz="155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6" name="Text 24"/>
          <p:cNvSpPr/>
          <p:nvPr>
            <p:custDataLst>
              <p:tags r:id="rId17"/>
            </p:custDataLst>
          </p:nvPr>
        </p:nvSpPr>
        <p:spPr>
          <a:xfrm>
            <a:off x="7380928" y="3320769"/>
            <a:ext cx="2480905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b="1" dirty="0">
                <a:solidFill>
                  <a:srgbClr val="272525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Model Pipelines</a:t>
            </a:r>
            <a:endParaRPr 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7" name="Text 25"/>
          <p:cNvSpPr/>
          <p:nvPr>
            <p:custDataLst>
              <p:tags r:id="rId18"/>
            </p:custDataLst>
          </p:nvPr>
        </p:nvSpPr>
        <p:spPr>
          <a:xfrm>
            <a:off x="7380928" y="3538120"/>
            <a:ext cx="6422231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Creating integrated pipelines for each machine learning model.</a:t>
            </a:r>
            <a:endParaRPr lang="en-US" sz="1400" dirty="0"/>
          </a:p>
        </p:txBody>
      </p:sp>
      <p:sp>
        <p:nvSpPr>
          <p:cNvPr id="28" name="Rectangles 27"/>
          <p:cNvSpPr/>
          <p:nvPr/>
        </p:nvSpPr>
        <p:spPr>
          <a:xfrm>
            <a:off x="12877248" y="7737155"/>
            <a:ext cx="1661795" cy="4279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 0">
            <a:extLst>
              <a:ext uri="{FF2B5EF4-FFF2-40B4-BE49-F238E27FC236}">
                <a16:creationId xmlns:a16="http://schemas.microsoft.com/office/drawing/2014/main" id="{8E5AFBB4-1F6F-536A-4C74-F7538BC9197A}"/>
              </a:ext>
            </a:extLst>
          </p:cNvPr>
          <p:cNvSpPr/>
          <p:nvPr/>
        </p:nvSpPr>
        <p:spPr>
          <a:xfrm>
            <a:off x="497132" y="3946775"/>
            <a:ext cx="4961811" cy="6200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Classifiers Used</a:t>
            </a:r>
            <a:endParaRPr lang="en-US" sz="24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0" name="Text 1">
            <a:extLst>
              <a:ext uri="{FF2B5EF4-FFF2-40B4-BE49-F238E27FC236}">
                <a16:creationId xmlns:a16="http://schemas.microsoft.com/office/drawing/2014/main" id="{52E59D74-0870-D617-C5C9-55B8D7A60F08}"/>
              </a:ext>
            </a:extLst>
          </p:cNvPr>
          <p:cNvSpPr/>
          <p:nvPr/>
        </p:nvSpPr>
        <p:spPr>
          <a:xfrm>
            <a:off x="489516" y="4564821"/>
            <a:ext cx="12844462" cy="6350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We employed a range of machine learning classifiers, each with distinct characteristics, to predict the district grades. This diverse selection allows for a comprehensive evaluation of predictive performance.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sz="1400" dirty="0">
              <a:solidFill>
                <a:srgbClr val="272525"/>
              </a:solidFill>
              <a:latin typeface="Inter" panose="02000503000000020004" pitchFamily="34" charset="0"/>
              <a:ea typeface="Inter" panose="02000503000000020004" pitchFamily="34" charset="-122"/>
            </a:endParaRPr>
          </a:p>
          <a:p>
            <a:pPr marL="0" indent="0" algn="l">
              <a:lnSpc>
                <a:spcPts val="2500"/>
              </a:lnSpc>
              <a:buNone/>
            </a:pPr>
            <a:endParaRPr lang="en-US" sz="1400" dirty="0"/>
          </a:p>
        </p:txBody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7CAC15E4-5132-D9AD-EE25-49C82A71AB12}"/>
              </a:ext>
            </a:extLst>
          </p:cNvPr>
          <p:cNvSpPr/>
          <p:nvPr/>
        </p:nvSpPr>
        <p:spPr>
          <a:xfrm>
            <a:off x="497135" y="5108334"/>
            <a:ext cx="13042821" cy="3187303"/>
          </a:xfrm>
          <a:prstGeom prst="roundRect">
            <a:avLst>
              <a:gd name="adj" fmla="val 261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DB435489-2ECB-EF14-C3EB-6D98E2A34706}"/>
              </a:ext>
            </a:extLst>
          </p:cNvPr>
          <p:cNvSpPr/>
          <p:nvPr/>
        </p:nvSpPr>
        <p:spPr>
          <a:xfrm>
            <a:off x="504755" y="5115954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A8D259EC-BB14-AAA0-61E5-DD6D34AF1F4E}"/>
              </a:ext>
            </a:extLst>
          </p:cNvPr>
          <p:cNvSpPr/>
          <p:nvPr/>
        </p:nvSpPr>
        <p:spPr>
          <a:xfrm>
            <a:off x="703113" y="5242636"/>
            <a:ext cx="6113264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Decision Tree</a:t>
            </a:r>
            <a:endParaRPr lang="en-US" sz="1550" dirty="0"/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5CDAF3DA-4A6B-03D0-239F-4B6ABD0C597F}"/>
              </a:ext>
            </a:extLst>
          </p:cNvPr>
          <p:cNvSpPr/>
          <p:nvPr/>
        </p:nvSpPr>
        <p:spPr>
          <a:xfrm>
            <a:off x="7220713" y="5242636"/>
            <a:ext cx="6113264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Simple rule-based model for classification.</a:t>
            </a:r>
            <a:endParaRPr lang="en-US" sz="1550" dirty="0"/>
          </a:p>
        </p:txBody>
      </p:sp>
      <p:sp>
        <p:nvSpPr>
          <p:cNvPr id="35" name="Shape 6">
            <a:extLst>
              <a:ext uri="{FF2B5EF4-FFF2-40B4-BE49-F238E27FC236}">
                <a16:creationId xmlns:a16="http://schemas.microsoft.com/office/drawing/2014/main" id="{976A4E7C-DA39-A239-0E1D-F990552B1002}"/>
              </a:ext>
            </a:extLst>
          </p:cNvPr>
          <p:cNvSpPr/>
          <p:nvPr/>
        </p:nvSpPr>
        <p:spPr>
          <a:xfrm>
            <a:off x="504755" y="5686858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9E100F64-8493-1C43-C3C7-849E423FA7DC}"/>
              </a:ext>
            </a:extLst>
          </p:cNvPr>
          <p:cNvSpPr/>
          <p:nvPr/>
        </p:nvSpPr>
        <p:spPr>
          <a:xfrm>
            <a:off x="703113" y="5813541"/>
            <a:ext cx="6113264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Random Forest</a:t>
            </a:r>
            <a:endParaRPr lang="en-US" sz="1550" dirty="0"/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D3E63C66-4C87-4BE4-C872-68D931C38802}"/>
              </a:ext>
            </a:extLst>
          </p:cNvPr>
          <p:cNvSpPr/>
          <p:nvPr/>
        </p:nvSpPr>
        <p:spPr>
          <a:xfrm>
            <a:off x="7220713" y="5813541"/>
            <a:ext cx="6113264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Ensemble of multiple decision trees (bagging technique).</a:t>
            </a:r>
            <a:endParaRPr lang="en-US" sz="1550" dirty="0"/>
          </a:p>
        </p:txBody>
      </p:sp>
      <p:sp>
        <p:nvSpPr>
          <p:cNvPr id="38" name="Shape 9">
            <a:extLst>
              <a:ext uri="{FF2B5EF4-FFF2-40B4-BE49-F238E27FC236}">
                <a16:creationId xmlns:a16="http://schemas.microsoft.com/office/drawing/2014/main" id="{DE5EEEBA-A807-A8D7-131F-4D297D26FE08}"/>
              </a:ext>
            </a:extLst>
          </p:cNvPr>
          <p:cNvSpPr/>
          <p:nvPr/>
        </p:nvSpPr>
        <p:spPr>
          <a:xfrm>
            <a:off x="504755" y="6257763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308DB7B5-2947-53E6-45EA-18389D4E2436}"/>
              </a:ext>
            </a:extLst>
          </p:cNvPr>
          <p:cNvSpPr/>
          <p:nvPr/>
        </p:nvSpPr>
        <p:spPr>
          <a:xfrm>
            <a:off x="703113" y="6384446"/>
            <a:ext cx="6113264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Gradient Boosting</a:t>
            </a:r>
            <a:endParaRPr lang="en-US" sz="1550" dirty="0"/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7E6769BB-1450-6A0B-F8F5-77E3F03C9BB1}"/>
              </a:ext>
            </a:extLst>
          </p:cNvPr>
          <p:cNvSpPr/>
          <p:nvPr/>
        </p:nvSpPr>
        <p:spPr>
          <a:xfrm>
            <a:off x="7220713" y="6384446"/>
            <a:ext cx="6113264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Sequential boosting model that builds trees iteratively.</a:t>
            </a:r>
            <a:endParaRPr lang="en-US" sz="1550" dirty="0"/>
          </a:p>
        </p:txBody>
      </p:sp>
      <p:sp>
        <p:nvSpPr>
          <p:cNvPr id="41" name="Shape 12">
            <a:extLst>
              <a:ext uri="{FF2B5EF4-FFF2-40B4-BE49-F238E27FC236}">
                <a16:creationId xmlns:a16="http://schemas.microsoft.com/office/drawing/2014/main" id="{217D8CA6-28C9-BFBF-B169-DDC28CF3D48B}"/>
              </a:ext>
            </a:extLst>
          </p:cNvPr>
          <p:cNvSpPr/>
          <p:nvPr/>
        </p:nvSpPr>
        <p:spPr>
          <a:xfrm>
            <a:off x="504755" y="6828668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02C0119D-0463-5D2E-56CB-AD41D71334F2}"/>
              </a:ext>
            </a:extLst>
          </p:cNvPr>
          <p:cNvSpPr/>
          <p:nvPr/>
        </p:nvSpPr>
        <p:spPr>
          <a:xfrm>
            <a:off x="703113" y="6955350"/>
            <a:ext cx="6113264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XGBoost</a:t>
            </a:r>
            <a:endParaRPr lang="en-US" sz="1550" dirty="0"/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2A001DC6-1581-8E78-B3DA-9D2E091D6C0B}"/>
              </a:ext>
            </a:extLst>
          </p:cNvPr>
          <p:cNvSpPr/>
          <p:nvPr/>
        </p:nvSpPr>
        <p:spPr>
          <a:xfrm>
            <a:off x="7220713" y="6955350"/>
            <a:ext cx="6113264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Advanced, regularised boosting algorithm for performance.</a:t>
            </a:r>
            <a:endParaRPr lang="en-US" sz="1550" dirty="0"/>
          </a:p>
        </p:txBody>
      </p:sp>
      <p:sp>
        <p:nvSpPr>
          <p:cNvPr id="44" name="Shape 15">
            <a:extLst>
              <a:ext uri="{FF2B5EF4-FFF2-40B4-BE49-F238E27FC236}">
                <a16:creationId xmlns:a16="http://schemas.microsoft.com/office/drawing/2014/main" id="{B0530999-58E4-C363-1A7A-E931C829B9BF}"/>
              </a:ext>
            </a:extLst>
          </p:cNvPr>
          <p:cNvSpPr/>
          <p:nvPr/>
        </p:nvSpPr>
        <p:spPr>
          <a:xfrm>
            <a:off x="504755" y="7399572"/>
            <a:ext cx="13027581" cy="888444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DB7B9906-D914-83CF-9E82-9CCC75D8D9F6}"/>
              </a:ext>
            </a:extLst>
          </p:cNvPr>
          <p:cNvSpPr/>
          <p:nvPr/>
        </p:nvSpPr>
        <p:spPr>
          <a:xfrm>
            <a:off x="703113" y="7526255"/>
            <a:ext cx="6113264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Stacking Classifier</a:t>
            </a:r>
            <a:endParaRPr lang="en-US" sz="1550" dirty="0"/>
          </a:p>
        </p:txBody>
      </p:sp>
      <p:sp>
        <p:nvSpPr>
          <p:cNvPr id="46" name="Text 17">
            <a:extLst>
              <a:ext uri="{FF2B5EF4-FFF2-40B4-BE49-F238E27FC236}">
                <a16:creationId xmlns:a16="http://schemas.microsoft.com/office/drawing/2014/main" id="{1C4293A7-B22A-6D1B-F1C5-B1FDA08219E0}"/>
              </a:ext>
            </a:extLst>
          </p:cNvPr>
          <p:cNvSpPr/>
          <p:nvPr/>
        </p:nvSpPr>
        <p:spPr>
          <a:xfrm>
            <a:off x="7220713" y="7526255"/>
            <a:ext cx="6113264" cy="6350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Combines predictions from multiple models with a meta-learner (logistic regression).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1390" y="779478"/>
            <a:ext cx="4961811" cy="6200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Model Accuracies</a:t>
            </a:r>
            <a:endParaRPr lang="en-US" sz="39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1390" y="1594460"/>
            <a:ext cx="13042821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Evaluating the performance of each classifier, Random Forest emerged as the top performer with the highest accuracy score.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-737830" y="4545251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517368" y="5876687"/>
            <a:ext cx="6113264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38" name="Rectangles 37"/>
          <p:cNvSpPr/>
          <p:nvPr/>
        </p:nvSpPr>
        <p:spPr>
          <a:xfrm>
            <a:off x="12854940" y="7747000"/>
            <a:ext cx="1661795" cy="4279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E864A3-1DE9-C0A5-44F8-DC38AB3A2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5064" y="2130576"/>
            <a:ext cx="5520540" cy="3688558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6EDEFCB-07A1-01DA-E0E5-61472125C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757897"/>
              </p:ext>
            </p:extLst>
          </p:nvPr>
        </p:nvGraphicFramePr>
        <p:xfrm>
          <a:off x="910682" y="2597774"/>
          <a:ext cx="6404518" cy="27213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6953">
                  <a:extLst>
                    <a:ext uri="{9D8B030D-6E8A-4147-A177-3AD203B41FA5}">
                      <a16:colId xmlns:a16="http://schemas.microsoft.com/office/drawing/2014/main" val="2340130693"/>
                    </a:ext>
                  </a:extLst>
                </a:gridCol>
                <a:gridCol w="3217565">
                  <a:extLst>
                    <a:ext uri="{9D8B030D-6E8A-4147-A177-3AD203B41FA5}">
                      <a16:colId xmlns:a16="http://schemas.microsoft.com/office/drawing/2014/main" val="3264127187"/>
                    </a:ext>
                  </a:extLst>
                </a:gridCol>
              </a:tblGrid>
              <a:tr h="4135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Accuracy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551204"/>
                  </a:ext>
                </a:extLst>
              </a:tr>
              <a:tr h="5638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Random Forest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78.8%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7440872"/>
                  </a:ext>
                </a:extLst>
              </a:tr>
              <a:tr h="4135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Decision Tree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71.5%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263458"/>
                  </a:ext>
                </a:extLst>
              </a:tr>
              <a:tr h="5034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Gradient Boosting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75.6%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5516018"/>
                  </a:ext>
                </a:extLst>
              </a:tr>
              <a:tr h="413512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XGBoost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77.9%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457367"/>
                  </a:ext>
                </a:extLst>
              </a:tr>
              <a:tr h="4135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Stacking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78.8%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865020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CCB18656-D128-04EC-3105-A872F311D45D}"/>
              </a:ext>
            </a:extLst>
          </p:cNvPr>
          <p:cNvSpPr txBox="1"/>
          <p:nvPr/>
        </p:nvSpPr>
        <p:spPr>
          <a:xfrm>
            <a:off x="910682" y="6063126"/>
            <a:ext cx="640451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Observations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Accuracy drops at </a:t>
            </a:r>
            <a:r>
              <a:rPr lang="en-US" b="1" dirty="0"/>
              <a:t>Decision Tree (71%)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Then steadily increases with advanced models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Gradient Boosting → 76%</a:t>
            </a:r>
            <a:r>
              <a:rPr lang="en-US" dirty="0"/>
              <a:t>, </a:t>
            </a:r>
            <a:r>
              <a:rPr lang="en-US" b="1" dirty="0" err="1"/>
              <a:t>XGBoost</a:t>
            </a:r>
            <a:r>
              <a:rPr lang="en-US" b="1" dirty="0"/>
              <a:t> → 78%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Highest accuracy achieved by </a:t>
            </a:r>
            <a:r>
              <a:rPr lang="en-US" b="1" dirty="0"/>
              <a:t>Random Forest &amp; Stacking (~79%)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B90C75-E7DB-10CD-04E0-3C2D9861F9BF}"/>
              </a:ext>
            </a:extLst>
          </p:cNvPr>
          <p:cNvSpPr txBox="1"/>
          <p:nvPr/>
        </p:nvSpPr>
        <p:spPr>
          <a:xfrm>
            <a:off x="7740391" y="6463468"/>
            <a:ext cx="69993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Insight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Advanced and ensemble models improve accuracy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There is a clear upward trend after using boosting and stacking techniques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2F2F1E-C698-A22C-605A-251F5B054D22}"/>
              </a:ext>
            </a:extLst>
          </p:cNvPr>
          <p:cNvSpPr txBox="1"/>
          <p:nvPr/>
        </p:nvSpPr>
        <p:spPr>
          <a:xfrm>
            <a:off x="8999033" y="5847192"/>
            <a:ext cx="35798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u="sng" dirty="0">
                <a:sym typeface="+mn-ea"/>
              </a:rPr>
              <a:t>Fig: Accuracy trend Across Models</a:t>
            </a:r>
            <a:endParaRPr lang="en-US" b="1" u="sng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9114" y="675084"/>
            <a:ext cx="5798225" cy="5959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Code Snippets Explained</a:t>
            </a:r>
            <a:endParaRPr lang="en-US" sz="375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49114" y="1556980"/>
            <a:ext cx="7618571" cy="6103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Understanding the underlying code for preprocessing and model execution is key to appreciating the pipeline's functionality.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249114" y="2516590"/>
            <a:ext cx="2860477" cy="3575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Preprocessing Code</a:t>
            </a:r>
            <a:endParaRPr lang="en-US" sz="225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298668" y="2572345"/>
            <a:ext cx="2860477" cy="3575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Model Code</a:t>
            </a:r>
            <a:endParaRPr lang="en-US" sz="225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12854940" y="7747000"/>
            <a:ext cx="1661795" cy="4279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EDFCC4-0F9C-10E4-7B17-0F563EFFBF03}"/>
              </a:ext>
            </a:extLst>
          </p:cNvPr>
          <p:cNvSpPr txBox="1"/>
          <p:nvPr/>
        </p:nvSpPr>
        <p:spPr>
          <a:xfrm>
            <a:off x="6249114" y="2893665"/>
            <a:ext cx="376911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Data Loading: </a:t>
            </a:r>
            <a:r>
              <a:rPr lang="en-IN" dirty="0"/>
              <a:t>Reads CSV files with encoding handling (utf-8 / latin1 fallback)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Column Cleaning: </a:t>
            </a:r>
            <a:r>
              <a:rPr lang="en-IN" dirty="0"/>
              <a:t>Removes unwanted characters (ï»¿, \n, spaces)</a:t>
            </a:r>
          </a:p>
          <a:p>
            <a:r>
              <a:rPr lang="en-IN" dirty="0"/>
              <a:t>     Standardizes column names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 Column Renaming: </a:t>
            </a:r>
            <a:r>
              <a:rPr lang="en-IN" dirty="0"/>
              <a:t>Dynamically maps inconsistent column names</a:t>
            </a:r>
          </a:p>
          <a:p>
            <a:r>
              <a:rPr lang="en-IN" dirty="0"/>
              <a:t>      (e.g., "</a:t>
            </a:r>
            <a:r>
              <a:rPr lang="en-IN" dirty="0" err="1"/>
              <a:t>if&amp;se</a:t>
            </a:r>
            <a:r>
              <a:rPr lang="en-IN" dirty="0"/>
              <a:t>" → "IFSE")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Column Selection: </a:t>
            </a:r>
            <a:r>
              <a:rPr lang="en-IN" dirty="0"/>
              <a:t>Keeps only required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 Feature Addition: </a:t>
            </a:r>
            <a:r>
              <a:rPr lang="en-IN" dirty="0"/>
              <a:t>Adds Year column manually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9F96D5-649D-6FA4-0249-69FEEF280E7F}"/>
              </a:ext>
            </a:extLst>
          </p:cNvPr>
          <p:cNvSpPr txBox="1"/>
          <p:nvPr/>
        </p:nvSpPr>
        <p:spPr>
          <a:xfrm>
            <a:off x="10212364" y="2929890"/>
            <a:ext cx="430437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Model Training</a:t>
            </a:r>
          </a:p>
          <a:p>
            <a:pPr marL="342900" indent="-342900">
              <a:buFont typeface="+mj-lt"/>
              <a:buAutoNum type="alphaLcPeriod"/>
            </a:pPr>
            <a:r>
              <a:rPr lang="en-IN" dirty="0"/>
              <a:t>Data split into training and testing sets</a:t>
            </a:r>
          </a:p>
          <a:p>
            <a:pPr marL="342900" indent="-342900">
              <a:buFont typeface="+mj-lt"/>
              <a:buAutoNum type="alphaLcPeriod"/>
            </a:pPr>
            <a:r>
              <a:rPr lang="en-IN" dirty="0"/>
              <a:t>Multiple models used (Random Forest, Gradient Boosting, </a:t>
            </a:r>
            <a:r>
              <a:rPr lang="en-IN" dirty="0" err="1"/>
              <a:t>XGBoost</a:t>
            </a:r>
            <a:r>
              <a:rPr lang="en-IN" dirty="0"/>
              <a:t>)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b="1" dirty="0"/>
              <a:t>Model Execution</a:t>
            </a:r>
          </a:p>
          <a:p>
            <a:pPr marL="342900" indent="-342900">
              <a:buFont typeface="+mj-lt"/>
              <a:buAutoNum type="alphaLcPeriod"/>
            </a:pPr>
            <a:r>
              <a:rPr lang="en-IN" dirty="0" err="1"/>
              <a:t>model.fit</a:t>
            </a:r>
            <a:r>
              <a:rPr lang="en-IN" dirty="0"/>
              <a:t>() trains the model</a:t>
            </a:r>
          </a:p>
          <a:p>
            <a:pPr marL="342900" indent="-342900">
              <a:buFont typeface="+mj-lt"/>
              <a:buAutoNum type="alphaLcPeriod"/>
            </a:pPr>
            <a:r>
              <a:rPr lang="en-IN" dirty="0" err="1"/>
              <a:t>model.predict</a:t>
            </a:r>
            <a:r>
              <a:rPr lang="en-IN" dirty="0"/>
              <a:t>() generates predictions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b="1" dirty="0"/>
              <a:t>Feature Engineering</a:t>
            </a:r>
          </a:p>
          <a:p>
            <a:pPr marL="342900" indent="-342900">
              <a:buFont typeface="+mj-lt"/>
              <a:buAutoNum type="alphaLcPeriod"/>
            </a:pPr>
            <a:r>
              <a:rPr lang="en-IN" dirty="0"/>
              <a:t>Lag features used for time-based prediction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b="1" dirty="0"/>
              <a:t>Evaluation Metrics</a:t>
            </a:r>
          </a:p>
          <a:p>
            <a:pPr marL="342900" indent="-342900">
              <a:buFont typeface="+mj-lt"/>
              <a:buAutoNum type="alphaLcPeriod"/>
            </a:pPr>
            <a:r>
              <a:rPr lang="en-IN" dirty="0"/>
              <a:t>Accuracy score</a:t>
            </a:r>
          </a:p>
          <a:p>
            <a:pPr marL="342900" indent="-342900">
              <a:buFont typeface="+mj-lt"/>
              <a:buAutoNum type="alphaLcPeriod"/>
            </a:pPr>
            <a:r>
              <a:rPr lang="en-IN" dirty="0"/>
              <a:t>Classification report</a:t>
            </a:r>
          </a:p>
          <a:p>
            <a:r>
              <a:rPr lang="en-IN" dirty="0"/>
              <a:t>Confusion matrix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367422"/>
            <a:ext cx="6083300" cy="287464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21863"/>
            <a:ext cx="6278047" cy="6200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Conclusion &amp; Future Work</a:t>
            </a:r>
            <a:endParaRPr lang="en-US" sz="36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91765" y="1470147"/>
            <a:ext cx="7556421" cy="9526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Our analysis demonstrates the effectiveness of various ML models in predicting district grades, with Random Forest achieving the highest accuracy. However, there are avenues for further enhancement.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280190" y="2599708"/>
            <a:ext cx="3679031" cy="1476256"/>
          </a:xfrm>
          <a:prstGeom prst="roundRect">
            <a:avLst>
              <a:gd name="adj" fmla="val 3226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86168" y="2805687"/>
            <a:ext cx="2480905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Top Performer</a:t>
            </a:r>
            <a:endParaRPr lang="en-US" sz="195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486168" y="3188607"/>
            <a:ext cx="3267075" cy="6350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Random Forest achieved the highest accuracy of 79%.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10157579" y="2588133"/>
            <a:ext cx="3679031" cy="1476256"/>
          </a:xfrm>
          <a:prstGeom prst="roundRect">
            <a:avLst>
              <a:gd name="adj" fmla="val 3226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63557" y="2805687"/>
            <a:ext cx="2480905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Model Consistency</a:t>
            </a:r>
            <a:endParaRPr lang="en-US" sz="195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363557" y="3153882"/>
            <a:ext cx="3267075" cy="6350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All evaluated models performed consistently well.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165877" y="3621672"/>
            <a:ext cx="5361900" cy="1386503"/>
          </a:xfrm>
          <a:prstGeom prst="roundRect">
            <a:avLst>
              <a:gd name="adj" fmla="val 4110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0745" y="3732237"/>
            <a:ext cx="2480905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Key Inspects:</a:t>
            </a:r>
            <a:endParaRPr lang="en-US" sz="195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486168" y="5025271"/>
            <a:ext cx="7144464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6322159" y="4400361"/>
            <a:ext cx="3097054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Future Plans:</a:t>
            </a:r>
            <a:endParaRPr lang="en-US" sz="32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291765" y="4854086"/>
            <a:ext cx="7556500" cy="3039848"/>
          </a:xfrm>
          <a:prstGeom prst="rect">
            <a:avLst/>
          </a:prstGeom>
          <a:noFill/>
        </p:spPr>
        <p:txBody>
          <a:bodyPr wrap="none" lIns="0" tIns="0" rIns="0" bIns="0" numCol="2" rtlCol="0" anchor="t"/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000" dirty="0"/>
              <a:t>Train and optimize the model using VS Code environment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000" dirty="0"/>
              <a:t>Integrate AI to provide smart suggestions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000" dirty="0"/>
              <a:t>Recommend policies and scholarships for underperforming districts/states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000" dirty="0"/>
              <a:t>Develop a full-stack application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000" dirty="0"/>
              <a:t>Interactive dashboard for data visualization and insights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000" dirty="0"/>
              <a:t>Use cross-validation to make the evaluation more reliable.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2000" dirty="0"/>
          </a:p>
        </p:txBody>
      </p:sp>
      <p:pic>
        <p:nvPicPr>
          <p:cNvPr id="19" name="Picture 18"/>
          <p:cNvPicPr/>
          <p:nvPr/>
        </p:nvPicPr>
        <p:blipFill>
          <a:blip r:embed="rId4"/>
          <a:stretch>
            <a:fillRect/>
          </a:stretch>
        </p:blipFill>
        <p:spPr>
          <a:xfrm>
            <a:off x="113665" y="5278953"/>
            <a:ext cx="5668010" cy="2950648"/>
          </a:xfrm>
          <a:prstGeom prst="rect">
            <a:avLst/>
          </a:prstGeom>
        </p:spPr>
      </p:pic>
      <p:sp>
        <p:nvSpPr>
          <p:cNvPr id="21" name="Rectangles 20"/>
          <p:cNvSpPr/>
          <p:nvPr/>
        </p:nvSpPr>
        <p:spPr>
          <a:xfrm>
            <a:off x="12854940" y="7747000"/>
            <a:ext cx="1661795" cy="4279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535712-858F-BEE7-5670-34A7FD25DEF8}"/>
              </a:ext>
            </a:extLst>
          </p:cNvPr>
          <p:cNvSpPr txBox="1"/>
          <p:nvPr/>
        </p:nvSpPr>
        <p:spPr>
          <a:xfrm>
            <a:off x="478140" y="3773740"/>
            <a:ext cx="504963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Model performance is consistent across different techniques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Accuracy is limited by dataset size and quality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90*385"/>
  <p:tag name="TABLE_ENDDRAG_RECT" val="80*145*990*38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531496062992,&quot;left&quot;:62.50314960629921,&quot;top&quot;:222.18748031496062,&quot;width&quot;:1026.993700787401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531496062992,&quot;left&quot;:62.50314960629921,&quot;top&quot;:222.18748031496062,&quot;width&quot;:1026.993700787401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531496062992,&quot;left&quot;:62.50314960629921,&quot;top&quot;:222.18748031496062,&quot;width&quot;:1026.993700787401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531496062992,&quot;left&quot;:62.50314960629921,&quot;top&quot;:222.18748031496062,&quot;width&quot;:1026.993700787401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531496062992,&quot;left&quot;:62.50314960629921,&quot;top&quot;:222.18748031496062,&quot;width&quot;:1026.993700787401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531496062992,&quot;left&quot;:62.50314960629921,&quot;top&quot;:222.18748031496062,&quot;width&quot;:1026.9937007874018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531496062992,&quot;left&quot;:62.50314960629921,&quot;top&quot;:222.18748031496062,&quot;width&quot;:1026.993700787401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531496062992,&quot;left&quot;:62.50314960629921,&quot;top&quot;:222.18748031496062,&quot;width&quot;:1026.9937007874018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531496062992,&quot;left&quot;:62.50314960629921,&quot;top&quot;:222.18748031496062,&quot;width&quot;:1026.9937007874018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531496062992,&quot;left&quot;:62.50314960629921,&quot;top&quot;:222.18748031496062,&quot;width&quot;:1026.9937007874018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531496062992,&quot;left&quot;:62.50314960629921,&quot;top&quot;:222.18748031496062,&quot;width&quot;:1026.9937007874018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531496062992,&quot;left&quot;:62.50314960629921,&quot;top&quot;:222.18748031496062,&quot;width&quot;:1026.9937007874018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531496062992,&quot;left&quot;:62.50314960629921,&quot;top&quot;:222.18748031496062,&quot;width&quot;:1026.9937007874018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531496062992,&quot;left&quot;:62.50314960629921,&quot;top&quot;:222.18748031496062,&quot;width&quot;:1026.9937007874018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531496062992,&quot;left&quot;:62.50314960629921,&quot;top&quot;:222.18748031496062,&quot;width&quot;:1026.9937007874018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531496062992,&quot;left&quot;:62.50314960629921,&quot;top&quot;:222.18748031496062,&quot;width&quot;:1026.9937007874018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531496062992,&quot;left&quot;:62.50314960629921,&quot;top&quot;:222.18748031496062,&quot;width&quot;:1026.9937007874018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531496062992,&quot;left&quot;:62.50314960629921,&quot;top&quot;:222.18748031496062,&quot;width&quot;:1026.993700787401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1765</TotalTime>
  <Words>1604</Words>
  <Application>Microsoft Office PowerPoint</Application>
  <PresentationFormat>Custom</PresentationFormat>
  <Paragraphs>272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Inter Bold</vt:lpstr>
      <vt:lpstr>Courier New</vt:lpstr>
      <vt:lpstr>Calibri</vt:lpstr>
      <vt:lpstr>Bodoni MT</vt:lpstr>
      <vt:lpstr>Aptos Narrow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Ph. Angamba Singha</cp:lastModifiedBy>
  <cp:revision>17</cp:revision>
  <dcterms:created xsi:type="dcterms:W3CDTF">2025-12-04T05:42:00Z</dcterms:created>
  <dcterms:modified xsi:type="dcterms:W3CDTF">2026-04-01T04:54:11Z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E301C3C359D5438E904D6DAD908CE8A6_13</vt:lpwstr>
  </property>
  <property fmtid="{D5CDD505-2E9C-101B-9397-08002B2CF9AE}" pid="3" name="KSOProductBuildVer">
    <vt:lpwstr>1033-12.2.0.23155</vt:lpwstr>
  </property>
</Properties>
</file>